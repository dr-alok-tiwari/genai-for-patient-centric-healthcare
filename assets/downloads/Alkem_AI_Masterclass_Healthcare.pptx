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a655ac17864406" /><Relationship Type="http://schemas.openxmlformats.org/officeDocument/2006/relationships/extended-properties" Target="/docProps/app.xml" Id="R9cc6916aac1a4e07" /><Relationship Type="http://schemas.openxmlformats.org/officeDocument/2006/relationships/officeDocument" Target="/ppt/presentation.xml" Id="R773ee1e0c1934f60" /></Relationships>
</file>

<file path=ppt/presentation.xml><?xml version="1.0" encoding="utf-8"?>
<p:presentation xmlns:p="http://schemas.openxmlformats.org/presentationml/2006/main">
  <p:sldMasterIdLst>
    <p:sldMasterId xmlns:r="http://schemas.openxmlformats.org/officeDocument/2006/relationships" id="2147483648" r:id="R5e1e81561660489c"/>
  </p:sldMasterIdLst>
  <p:notesMasterIdLst>
    <p:notesMasterId xmlns:r="http://schemas.openxmlformats.org/officeDocument/2006/relationships" r:id="Re1af302147534f9a"/>
  </p:notesMasterIdLst>
  <p:sldIdLst>
    <p:sldId xmlns:r="http://schemas.openxmlformats.org/officeDocument/2006/relationships" id="256" r:id="Rdabc984b1d8048dd"/>
    <p:sldId xmlns:r="http://schemas.openxmlformats.org/officeDocument/2006/relationships" id="257" r:id="R31c476cffd4f4fde"/>
    <p:sldId xmlns:r="http://schemas.openxmlformats.org/officeDocument/2006/relationships" id="258" r:id="Re8919a4ea8f5450e"/>
    <p:sldId xmlns:r="http://schemas.openxmlformats.org/officeDocument/2006/relationships" id="259" r:id="R783920c9b51b482e"/>
    <p:sldId xmlns:r="http://schemas.openxmlformats.org/officeDocument/2006/relationships" id="260" r:id="R31500e2d852a40f7"/>
    <p:sldId xmlns:r="http://schemas.openxmlformats.org/officeDocument/2006/relationships" id="261" r:id="Rcfe2b479b5a14d9f"/>
    <p:sldId xmlns:r="http://schemas.openxmlformats.org/officeDocument/2006/relationships" id="262" r:id="R75782ad4b6c24a5e"/>
    <p:sldId xmlns:r="http://schemas.openxmlformats.org/officeDocument/2006/relationships" id="263" r:id="R3ac6a0073ff8455a"/>
    <p:sldId xmlns:r="http://schemas.openxmlformats.org/officeDocument/2006/relationships" id="264" r:id="Ra891dc97a39f402e"/>
    <p:sldId xmlns:r="http://schemas.openxmlformats.org/officeDocument/2006/relationships" id="265" r:id="R18f8f2b0c2094985"/>
    <p:sldId xmlns:r="http://schemas.openxmlformats.org/officeDocument/2006/relationships" id="266" r:id="R61a1d2c3d92a48bb"/>
    <p:sldId xmlns:r="http://schemas.openxmlformats.org/officeDocument/2006/relationships" id="267" r:id="Rc074660c021441a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680e73ab7f4034" /><Relationship Type="http://schemas.openxmlformats.org/officeDocument/2006/relationships/slideMaster" Target="/ppt/slideMasters/slideMaster1.xml" Id="R5e1e81561660489c" /><Relationship Type="http://schemas.openxmlformats.org/officeDocument/2006/relationships/notesMaster" Target="/ppt/notesMasters/notesMaster1.xml" Id="Re1af302147534f9a" /><Relationship Type="http://schemas.openxmlformats.org/officeDocument/2006/relationships/presProps" Target="/ppt/presProps.xml" Id="R016d6df8a9b447fd" /><Relationship Type="http://schemas.openxmlformats.org/officeDocument/2006/relationships/tableStyles" Target="/ppt/tableStyles.xml" Id="R2da3115d5f3d4c29" /><Relationship Type="http://schemas.openxmlformats.org/officeDocument/2006/relationships/slide" Target="/ppt/slides/slide1.xml" Id="Rdabc984b1d8048dd" /><Relationship Type="http://schemas.openxmlformats.org/officeDocument/2006/relationships/slide" Target="/ppt/slides/slide2.xml" Id="R31c476cffd4f4fde" /><Relationship Type="http://schemas.openxmlformats.org/officeDocument/2006/relationships/slide" Target="/ppt/slides/slide3.xml" Id="Re8919a4ea8f5450e" /><Relationship Type="http://schemas.openxmlformats.org/officeDocument/2006/relationships/slide" Target="/ppt/slides/slide4.xml" Id="R783920c9b51b482e" /><Relationship Type="http://schemas.openxmlformats.org/officeDocument/2006/relationships/slide" Target="/ppt/slides/slide5.xml" Id="R31500e2d852a40f7" /><Relationship Type="http://schemas.openxmlformats.org/officeDocument/2006/relationships/slide" Target="/ppt/slides/slide6.xml" Id="Rcfe2b479b5a14d9f" /><Relationship Type="http://schemas.openxmlformats.org/officeDocument/2006/relationships/slide" Target="/ppt/slides/slide7.xml" Id="R75782ad4b6c24a5e" /><Relationship Type="http://schemas.openxmlformats.org/officeDocument/2006/relationships/slide" Target="/ppt/slides/slide8.xml" Id="R3ac6a0073ff8455a" /><Relationship Type="http://schemas.openxmlformats.org/officeDocument/2006/relationships/slide" Target="/ppt/slides/slide9.xml" Id="Ra891dc97a39f402e" /><Relationship Type="http://schemas.openxmlformats.org/officeDocument/2006/relationships/slide" Target="/ppt/slides/slide10.xml" Id="R18f8f2b0c2094985" /><Relationship Type="http://schemas.openxmlformats.org/officeDocument/2006/relationships/slide" Target="/ppt/slides/slide11.xml" Id="R61a1d2c3d92a48bb" /><Relationship Type="http://schemas.openxmlformats.org/officeDocument/2006/relationships/slide" Target="/ppt/slides/slide12.xml" Id="Rc074660c021441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47e8fed8d14f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52d36868fc4fd9" /><Relationship Type="http://schemas.openxmlformats.org/officeDocument/2006/relationships/notesMaster" Target="/ppt/notesMasters/notesMaster1.xml" Id="Red031a3e18e04f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b1920c2ec34800" /><Relationship Type="http://schemas.openxmlformats.org/officeDocument/2006/relationships/notesMaster" Target="/ppt/notesMasters/notesMaster1.xml" Id="Rb06aee58a7194a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ffe724f8e843dc" /><Relationship Type="http://schemas.openxmlformats.org/officeDocument/2006/relationships/notesMaster" Target="/ppt/notesMasters/notesMaster1.xml" Id="R9e9a9e60b4024c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e978091c7d4487" /><Relationship Type="http://schemas.openxmlformats.org/officeDocument/2006/relationships/notesMaster" Target="/ppt/notesMasters/notesMaster1.xml" Id="R80f97acfdd654d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9d4290394e4b54" /><Relationship Type="http://schemas.openxmlformats.org/officeDocument/2006/relationships/notesMaster" Target="/ppt/notesMasters/notesMaster1.xml" Id="Rb84abda1c87b46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1f2e5e774941fb" /><Relationship Type="http://schemas.openxmlformats.org/officeDocument/2006/relationships/notesMaster" Target="/ppt/notesMasters/notesMaster1.xml" Id="R284e934331eb4b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bc4f2cad81411b" /><Relationship Type="http://schemas.openxmlformats.org/officeDocument/2006/relationships/notesMaster" Target="/ppt/notesMasters/notesMaster1.xml" Id="R54a2cf1b684e4f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96e7ab3c45451d" /><Relationship Type="http://schemas.openxmlformats.org/officeDocument/2006/relationships/notesMaster" Target="/ppt/notesMasters/notesMaster1.xml" Id="Rf65bb4e529914c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15394e67bf4186" /><Relationship Type="http://schemas.openxmlformats.org/officeDocument/2006/relationships/notesMaster" Target="/ppt/notesMasters/notesMaster1.xml" Id="R082460073bd34c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e9b66efa3f492e" /><Relationship Type="http://schemas.openxmlformats.org/officeDocument/2006/relationships/notesMaster" Target="/ppt/notesMasters/notesMaster1.xml" Id="Rbb6b340ba2644e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da5265371a4809" /><Relationship Type="http://schemas.openxmlformats.org/officeDocument/2006/relationships/notesMaster" Target="/ppt/notesMasters/notesMaster1.xml" Id="Rc6248b5ae9534f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40cfb73fd74285" /><Relationship Type="http://schemas.openxmlformats.org/officeDocument/2006/relationships/notesMaster" Target="/ppt/notesMasters/notesMaster1.xml" Id="Rd6079c3e37734a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asking participants to name one task they would improve—not one tool they want to use. Set the contract: synthetic data, bounded tasks, source checks, and qualified human authority.</a:t>
            </a:r>
          </a:p>
          <a:p xmlns:a="http://schemas.openxmlformats.org/drawingml/2006/main">
            <a:r>
              <a:t/>
            </a:r>
          </a:p>
          <a:p xmlns:a="http://schemas.openxmlformats.org/drawingml/2006/main">
            <a:r>
              <a:t>Sources / verification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prescription example: fluency cannot compensate for one wrong strength. Explain that approval, data handling, and review requirements come from the organisation and the intended use—not from the model's confidence.</a:t>
            </a:r>
          </a:p>
          <a:p xmlns:a="http://schemas.openxmlformats.org/drawingml/2006/main">
            <a:r>
              <a:t/>
            </a:r>
          </a:p>
          <a:p xmlns:a="http://schemas.openxmlformats.org/drawingml/2006/main">
            <a:r>
              <a:t>Sources / verification links:</a:t>
            </a:r>
          </a:p>
          <a:p xmlns:a="http://schemas.openxmlformats.org/drawingml/2006/main">
            <a:r>
              <a:t>- https://www.who.int/publications/i/item/9789240029200</a:t>
            </a:r>
          </a:p>
          <a:p xmlns:a="http://schemas.openxmlformats.org/drawingml/2006/main">
            <a:r>
              <a:t>- 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pillars are a programme structure, not a maturity score. A workflow may span pillars; the selection engine maps roles and tasks to complete supported workflows.</a:t>
            </a:r>
          </a:p>
          <a:p xmlns:a="http://schemas.openxmlformats.org/drawingml/2006/main">
            <a:r>
              <a:t/>
            </a:r>
          </a:p>
          <a:p xmlns:a="http://schemas.openxmlformats.org/drawingml/2006/main">
            <a:r>
              <a:t>Sources / verification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synthetic prescription demo. Keep the facilitator reference hidden until participants have extracted the fields. Score exactness, ambiguity handling, and scope—not elegance.</a:t>
            </a:r>
          </a:p>
          <a:p xmlns:a="http://schemas.openxmlformats.org/drawingml/2006/main">
            <a:r>
              <a:t/>
            </a:r>
          </a:p>
          <a:p xmlns:a="http://schemas.openxmlformats.org/drawingml/2006/main">
            <a:r>
              <a:t>Sources / verification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must never change when simplifying? Elicit medicine, dose, duration, dates, red flags, follow-up, and uncertainty. For translation, preserve medicine/test names and require a fluent clinical reviewer.</a:t>
            </a:r>
          </a:p>
          <a:p xmlns:a="http://schemas.openxmlformats.org/drawingml/2006/main">
            <a:r>
              <a:t/>
            </a:r>
          </a:p>
          <a:p xmlns:a="http://schemas.openxmlformats.org/drawingml/2006/main">
            <a:r>
              <a:t>Sources / verification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ask the model for a diagnosis. The demonstration is about image adequacy, descriptive observation, uncertainty, and escalation. Explicitly mention the product limitation on specialised medical images.</a:t>
            </a:r>
          </a:p>
          <a:p xmlns:a="http://schemas.openxmlformats.org/drawingml/2006/main">
            <a:r>
              <a:t/>
            </a:r>
          </a:p>
          <a:p xmlns:a="http://schemas.openxmlformats.org/drawingml/2006/main">
            <a:r>
              <a:t>Sources / verification links:</a:t>
            </a:r>
          </a:p>
          <a:p xmlns:a="http://schemas.openxmlformats.org/drawingml/2006/main">
            <a:r>
              <a:t>- https://help.openai.com/articles/8400551-chatgpt-image-inputs-faq</a:t>
            </a:r>
          </a:p>
          <a:p xmlns:a="http://schemas.openxmlformats.org/drawingml/2006/main">
            <a:r>
              <a:t>- https://www.fda.gov/medical-devices/software-medical-device-samd/artificial-intelligence-enabled-medical-devices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a cognitive forcing pause after the model response: What did it omit? Where could anchoring or automation bias occur? What new data would change urgency? Diagnosis and treatment remain clinician-owned.</a:t>
            </a:r>
          </a:p>
          <a:p xmlns:a="http://schemas.openxmlformats.org/drawingml/2006/main">
            <a:r>
              <a:t/>
            </a:r>
          </a:p>
          <a:p xmlns:a="http://schemas.openxmlformats.org/drawingml/2006/main">
            <a:r>
              <a:t>Sources / verification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the two lanes. In PV, qualified reviewers own causality, expectedness, coding, and reporting. In evidence work, the team owns the reproducible search, screening decisions, source opening, extraction checks, and interpretation.</a:t>
            </a:r>
          </a:p>
          <a:p xmlns:a="http://schemas.openxmlformats.org/drawingml/2006/main">
            <a:r>
              <a:t/>
            </a:r>
          </a:p>
          <a:p xmlns:a="http://schemas.openxmlformats.org/drawingml/2006/main">
            <a:r>
              <a:t>Sources / verification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governance workbench in the app. The score is a discussion aid, not legal or regulatory advice. High or critical use cases need multidisciplinary review and may need validated or regulated pathways.</a:t>
            </a:r>
          </a:p>
          <a:p xmlns:a="http://schemas.openxmlformats.org/drawingml/2006/main">
            <a:r>
              <a:t/>
            </a:r>
          </a:p>
          <a:p xmlns:a="http://schemas.openxmlformats.org/drawingml/2006/main">
            <a:r>
              <a:t>Sources / verification links:</a:t>
            </a:r>
          </a:p>
          <a:p xmlns:a="http://schemas.openxmlformats.org/drawingml/2006/main">
            <a:r>
              <a:t>- https://www.nist.gov/itl/ai-risk-management-framework</a:t>
            </a:r>
          </a:p>
          <a:p xmlns:a="http://schemas.openxmlformats.org/drawingml/2006/main">
            <a:r>
              <a:t>- https://www.who.int/publications/i/item/9789240029200</a:t>
            </a:r>
          </a:p>
          <a:p xmlns:a="http://schemas.openxmlformats.org/drawingml/2006/main">
            <a:r>
              <a:t>- https://www.meity.gov.in/documents/act-and-policies/digital-personal-data-protection-rules-2025-gDOxUjMtQWa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Prompt Studio. Every option is derived from workflows remaining after previous selections. An unmatched free-text search returns a labelled closest verified alternative; it never fabricates a new workflow.</a:t>
            </a:r>
          </a:p>
          <a:p xmlns:a="http://schemas.openxmlformats.org/drawingml/2006/main">
            <a:r>
              <a:t/>
            </a:r>
          </a:p>
          <a:p xmlns:a="http://schemas.openxmlformats.org/drawingml/2006/main">
            <a:r>
              <a:t>Sources / verification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 teams and tools before starting. Do not require any participant to upload real patient or company-confidential data. Have an offline fallback for every live tool demonstration.</a:t>
            </a:r>
          </a:p>
          <a:p xmlns:a="http://schemas.openxmlformats.org/drawingml/2006/main">
            <a:r>
              <a:t/>
            </a:r>
          </a:p>
          <a:p xmlns:a="http://schemas.openxmlformats.org/drawingml/2006/main">
            <a:r>
              <a:t>Sources / verification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each team naming one pilot and one stop condition. Direct participants to the workbook, facilitator handbook, app, dataset kit, and verified tool matrix.</a:t>
            </a:r>
          </a:p>
          <a:p xmlns:a="http://schemas.openxmlformats.org/drawingml/2006/main">
            <a:r>
              <a:t/>
            </a:r>
          </a:p>
          <a:p xmlns:a="http://schemas.openxmlformats.org/drawingml/2006/main">
            <a:r>
              <a:t>Sources / verification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740dc9255a48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bd835609c646c0" /><Relationship Type="http://schemas.openxmlformats.org/officeDocument/2006/relationships/slideLayout" Target="/ppt/slideLayouts/slideLayout1.xml" Id="R6817684b77ca4d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17684b77ca4d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504d648c1c42f0" /><Relationship Type="http://schemas.openxmlformats.org/officeDocument/2006/relationships/notesSlide" Target="/ppt/notesSlides/notesSlide1.xml" Id="Rc84d2d3834de46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d3cce1b75f462b" /><Relationship Type="http://schemas.openxmlformats.org/officeDocument/2006/relationships/notesSlide" Target="/ppt/notesSlides/notesSlide2.xml" Id="R4538a1c4570b40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c36693aa7c450f" /><Relationship Type="http://schemas.openxmlformats.org/officeDocument/2006/relationships/notesSlide" Target="/ppt/notesSlides/notesSlide3.xml" Id="R397e5842a5b144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c1761dbdab4d6c" /><Relationship Type="http://schemas.openxmlformats.org/officeDocument/2006/relationships/image" Target="/ppt/media/image.png" Id="Rfb9bb49b774d4eed" /><Relationship Type="http://schemas.openxmlformats.org/officeDocument/2006/relationships/notesSlide" Target="/ppt/notesSlides/notesSlide4.xml" Id="R42fc44c8a7e246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f17cc37afb438a" /><Relationship Type="http://schemas.openxmlformats.org/officeDocument/2006/relationships/notesSlide" Target="/ppt/notesSlides/notesSlide5.xml" Id="Re40f4efbaaad4e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556550c1ea441c" /><Relationship Type="http://schemas.openxmlformats.org/officeDocument/2006/relationships/image" Target="/ppt/media/image2.png" Id="R2f8813e10f43430f" /><Relationship Type="http://schemas.openxmlformats.org/officeDocument/2006/relationships/notesSlide" Target="/ppt/notesSlides/notesSlide6.xml" Id="Rb633a12398e444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8598aa6b2f40dc" /><Relationship Type="http://schemas.openxmlformats.org/officeDocument/2006/relationships/notesSlide" Target="/ppt/notesSlides/notesSlide7.xml" Id="Rf8b2aa8e8e8748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e3b83da9f04744" /><Relationship Type="http://schemas.openxmlformats.org/officeDocument/2006/relationships/notesSlide" Target="/ppt/notesSlides/notesSlide8.xml" Id="R5b41e1d7d8dc40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bf0a8371a324411" /><Relationship Type="http://schemas.openxmlformats.org/officeDocument/2006/relationships/notesSlide" Target="/ppt/notesSlides/notesSlide9.xml" Id="R0fc9ae5a81384d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9e18324ca8458e" /><Relationship Type="http://schemas.openxmlformats.org/officeDocument/2006/relationships/notesSlide" Target="/ppt/notesSlides/notesSlide10.xml" Id="R0e49837ed89245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30e6ed68b24326" /><Relationship Type="http://schemas.openxmlformats.org/officeDocument/2006/relationships/notesSlide" Target="/ppt/notesSlides/notesSlide11.xml" Id="R2353d27b7c3141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0b8bd212f54320" /><Relationship Type="http://schemas.openxmlformats.org/officeDocument/2006/relationships/notesSlide" Target="/ppt/notesSlides/notesSlide12.xml" Id="Rb9e8428f73cc4061" /></Relationships>
</file>

<file path=ppt/slides/slide1.xml><?xml version="1.0" encoding="utf-8"?>
<p:sld xmlns:p="http://schemas.openxmlformats.org/presentationml/2006/main">
  <p:cSld>
    <p:bg>
      <p:bgPr>
        <a:solidFill xmlns:a="http://schemas.openxmlformats.org/drawingml/2006/main">
          <a:srgbClr val="07364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546590-8082-4E27-9074-238185945EB3}"/>
              </a:ext>
            </a:extLst>
          </p:cNvPr>
          <p:cNvSpPr>
            <a:spLocks xmlns:a="http://schemas.openxmlformats.org/drawingml/2006/main" noGrp="1"/>
          </p:cNvSpPr>
          <p:nvPr/>
        </p:nvSpPr>
        <p:spPr>
          <a:xfrm xmlns:a="http://schemas.openxmlformats.org/drawingml/2006/main">
            <a:off x="8801100" y="0"/>
            <a:ext cx="3390900" cy="3219450"/>
          </a:xfrm>
          <a:prstGeom xmlns:a="http://schemas.openxmlformats.org/drawingml/2006/main" prst="ellipse">
            <a:avLst/>
          </a:prstGeom>
          <a:solidFill xmlns:a="http://schemas.openxmlformats.org/drawingml/2006/main">
            <a:srgbClr val="0B6170"/>
          </a:solidFill>
          <a:ln xmlns:a="http://schemas.openxmlformats.org/drawingml/2006/main" w="0">
            <a:solidFill>
              <a:srgbClr val="0B6170"/>
            </a:solidFill>
            <a:prstDash val="solid"/>
          </a:ln>
        </p:spPr>
      </p:sp>
      <p:sp>
        <p:nvSpPr>
          <p:cNvPr id="2" name="">
            <a:extLst xmlns:a="http://schemas.openxmlformats.org/drawingml/2006/main">
              <a:ext uri="{FF2B5EF4-FFF2-40B4-BE49-F238E27FC236}">
                <a16:creationId xmlns:a16="http://schemas.microsoft.com/office/drawing/2014/main" id="{281FCE2F-77EC-43D3-957F-FD62C4498DA7}"/>
              </a:ext>
            </a:extLst>
          </p:cNvPr>
          <p:cNvSpPr>
            <a:spLocks xmlns:a="http://schemas.openxmlformats.org/drawingml/2006/main" noGrp="1"/>
          </p:cNvSpPr>
          <p:nvPr/>
        </p:nvSpPr>
        <p:spPr>
          <a:xfrm xmlns:a="http://schemas.openxmlformats.org/drawingml/2006/main">
            <a:off x="9620250" y="3429000"/>
            <a:ext cx="2571750" cy="3429000"/>
          </a:xfrm>
          <a:prstGeom xmlns:a="http://schemas.openxmlformats.org/drawingml/2006/main" prst="ellipse">
            <a:avLst/>
          </a:prstGeom>
          <a:solidFill xmlns:a="http://schemas.openxmlformats.org/drawingml/2006/main">
            <a:srgbClr val="075664"/>
          </a:solidFill>
          <a:ln xmlns:a="http://schemas.openxmlformats.org/drawingml/2006/main" w="0">
            <a:solidFill>
              <a:srgbClr val="075664"/>
            </a:solidFill>
            <a:prstDash val="solid"/>
          </a:ln>
        </p:spPr>
      </p:sp>
      <p:sp>
        <p:nvSpPr>
          <p:cNvPr id="3" name="">
            <a:extLst xmlns:a="http://schemas.openxmlformats.org/drawingml/2006/main">
              <a:ext uri="{FF2B5EF4-FFF2-40B4-BE49-F238E27FC236}">
                <a16:creationId xmlns:a16="http://schemas.microsoft.com/office/drawing/2014/main" id="{2C9F2F24-CB08-4888-91E1-959068E93828}"/>
              </a:ext>
            </a:extLst>
          </p:cNvPr>
          <p:cNvSpPr>
            <a:spLocks xmlns:a="http://schemas.openxmlformats.org/drawingml/2006/main" noGrp="1"/>
          </p:cNvSpPr>
          <p:nvPr/>
        </p:nvSpPr>
        <p:spPr>
          <a:xfrm xmlns:a="http://schemas.openxmlformats.org/drawingml/2006/main">
            <a:off x="666750" y="590550"/>
            <a:ext cx="2514600" cy="304800"/>
          </a:xfrm>
          <a:prstGeom xmlns:a="http://schemas.openxmlformats.org/drawingml/2006/main" prst="roundRect">
            <a:avLst>
              <a:gd name="adj" fmla="val 50000"/>
            </a:avLst>
          </a:prstGeom>
          <a:solidFill xmlns:a="http://schemas.openxmlformats.org/drawingml/2006/main">
            <a:srgbClr val="0B5260"/>
          </a:solidFill>
          <a:ln xmlns:a="http://schemas.openxmlformats.org/drawingml/2006/main" w="9525">
            <a:solidFill>
              <a:srgbClr val="0B5260"/>
            </a:solidFill>
            <a:prstDash val="solid"/>
          </a:ln>
        </p:spPr>
        <p:txBody>
          <a:bodyPr xmlns:a="http://schemas.openxmlformats.org/drawingml/2006/main"/>
          <a:lstStyle xmlns:a="http://schemas.openxmlformats.org/drawingml/2006/main"/>
          <a:p xmlns:a="http://schemas.openxmlformats.org/drawingml/2006/main">
            <a:pPr>
              <a:defRPr sz="900" b="1">
                <a:solidFill>
                  <a:srgbClr val="A5F3FC"/>
                </a:solidFill>
              </a:defRPr>
            </a:pPr>
            <a:r>
              <a:rPr sz="900" b="1">
                <a:solidFill>
                  <a:srgbClr val="A5F3FC"/>
                </a:solidFill>
              </a:rPr>
              <a:t>ALKEM  |  AI MASTERCLASS</a:t>
            </a:r>
          </a:p>
        </p:txBody>
      </p:sp>
      <p:sp>
        <p:nvSpPr>
          <p:cNvPr id="4" name="title">
            <a:extLst xmlns:a="http://schemas.openxmlformats.org/drawingml/2006/main">
              <a:ext uri="{FF2B5EF4-FFF2-40B4-BE49-F238E27FC236}">
                <a16:creationId xmlns:a16="http://schemas.microsoft.com/office/drawing/2014/main" id="{E50F763B-2104-4370-A6E6-D571E6696A1A}"/>
              </a:ext>
            </a:extLst>
          </p:cNvPr>
          <p:cNvSpPr>
            <a:spLocks xmlns:a="http://schemas.openxmlformats.org/drawingml/2006/main" noGrp="1"/>
          </p:cNvSpPr>
          <p:nvPr/>
        </p:nvSpPr>
        <p:spPr>
          <a:xfrm xmlns:a="http://schemas.openxmlformats.org/drawingml/2006/main">
            <a:off x="666750" y="1428750"/>
            <a:ext cx="676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a:solidFill>
                  <a:srgbClr val="FFFFFF"/>
                </a:solidFill>
              </a:defRPr>
            </a:pPr>
            <a:r>
              <a:rPr sz="4050" b="1">
                <a:solidFill>
                  <a:srgbClr val="FFFFFF"/>
                </a:solidFill>
              </a:rPr>
              <a:t>GenAI for</a:t>
            </a:r>
          </a:p>
          <a:p xmlns:a="http://schemas.openxmlformats.org/drawingml/2006/main">
            <a:pPr>
              <a:defRPr sz="4050" b="1">
                <a:solidFill>
                  <a:srgbClr val="FFFFFF"/>
                </a:solidFill>
              </a:defRPr>
            </a:pPr>
            <a:r>
              <a:rPr sz="4050" b="1">
                <a:solidFill>
                  <a:srgbClr val="FFFFFF"/>
                </a:solidFill>
              </a:rPr>
              <a:t>Patient-Centric</a:t>
            </a:r>
          </a:p>
          <a:p xmlns:a="http://schemas.openxmlformats.org/drawingml/2006/main">
            <a:pPr>
              <a:defRPr sz="4050" b="1">
                <a:solidFill>
                  <a:srgbClr val="FFFFFF"/>
                </a:solidFill>
              </a:defRPr>
            </a:pPr>
            <a:r>
              <a:rPr sz="4050" b="1">
                <a:solidFill>
                  <a:srgbClr val="FFFFFF"/>
                </a:solidFill>
              </a:rPr>
              <a:t>Healthcare</a:t>
            </a:r>
          </a:p>
        </p:txBody>
      </p:sp>
      <p:sp>
        <p:nvSpPr>
          <p:cNvPr id="5" name="subtitle">
            <a:extLst xmlns:a="http://schemas.openxmlformats.org/drawingml/2006/main">
              <a:ext uri="{FF2B5EF4-FFF2-40B4-BE49-F238E27FC236}">
                <a16:creationId xmlns:a16="http://schemas.microsoft.com/office/drawing/2014/main" id="{C436A4BB-E955-485D-8C9D-5C3ECF337E4B}"/>
              </a:ext>
            </a:extLst>
          </p:cNvPr>
          <p:cNvSpPr>
            <a:spLocks xmlns:a="http://schemas.openxmlformats.org/drawingml/2006/main" noGrp="1"/>
          </p:cNvSpPr>
          <p:nvPr/>
        </p:nvSpPr>
        <p:spPr>
          <a:xfrm xmlns:a="http://schemas.openxmlformats.org/drawingml/2006/main">
            <a:off x="704850" y="4114800"/>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0">
                <a:solidFill>
                  <a:srgbClr val="D7F9FF"/>
                </a:solidFill>
              </a:defRPr>
            </a:pPr>
            <a:r>
              <a:rPr sz="1725" b="0">
                <a:solidFill>
                  <a:srgbClr val="D7F9FF"/>
                </a:solidFill>
              </a:rPr>
              <a:t>Practical, responsible workflows for doctors and pharma professionals</a:t>
            </a:r>
          </a:p>
        </p:txBody>
      </p:sp>
      <p:sp>
        <p:nvSpPr>
          <p:cNvPr id="6" name="">
            <a:extLst xmlns:a="http://schemas.openxmlformats.org/drawingml/2006/main">
              <a:ext uri="{FF2B5EF4-FFF2-40B4-BE49-F238E27FC236}">
                <a16:creationId xmlns:a16="http://schemas.microsoft.com/office/drawing/2014/main" id="{544C163B-662A-4042-984D-25738E31E738}"/>
              </a:ext>
            </a:extLst>
          </p:cNvPr>
          <p:cNvSpPr>
            <a:spLocks xmlns:a="http://schemas.openxmlformats.org/drawingml/2006/main" noGrp="1"/>
          </p:cNvSpPr>
          <p:nvPr/>
        </p:nvSpPr>
        <p:spPr>
          <a:xfrm xmlns:a="http://schemas.openxmlformats.org/drawingml/2006/main">
            <a:off x="704850" y="5219700"/>
            <a:ext cx="146685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60 MIN THEORY</a:t>
            </a:r>
          </a:p>
        </p:txBody>
      </p:sp>
      <p:sp>
        <p:nvSpPr>
          <p:cNvPr id="7" name="">
            <a:extLst xmlns:a="http://schemas.openxmlformats.org/drawingml/2006/main">
              <a:ext uri="{FF2B5EF4-FFF2-40B4-BE49-F238E27FC236}">
                <a16:creationId xmlns:a16="http://schemas.microsoft.com/office/drawing/2014/main" id="{3ECEA5EB-39F0-48D8-9459-835F9EFE7437}"/>
              </a:ext>
            </a:extLst>
          </p:cNvPr>
          <p:cNvSpPr>
            <a:spLocks xmlns:a="http://schemas.openxmlformats.org/drawingml/2006/main" noGrp="1"/>
          </p:cNvSpPr>
          <p:nvPr/>
        </p:nvSpPr>
        <p:spPr>
          <a:xfrm xmlns:a="http://schemas.openxmlformats.org/drawingml/2006/main">
            <a:off x="2324100" y="5219700"/>
            <a:ext cx="171450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90 MIN HANDS-ON</a:t>
            </a:r>
          </a:p>
        </p:txBody>
      </p:sp>
      <p:sp>
        <p:nvSpPr>
          <p:cNvPr id="8" name="">
            <a:extLst xmlns:a="http://schemas.openxmlformats.org/drawingml/2006/main">
              <a:ext uri="{FF2B5EF4-FFF2-40B4-BE49-F238E27FC236}">
                <a16:creationId xmlns:a16="http://schemas.microsoft.com/office/drawing/2014/main" id="{3CFB8B55-6300-4993-8713-8213DC6BFAEF}"/>
              </a:ext>
            </a:extLst>
          </p:cNvPr>
          <p:cNvSpPr>
            <a:spLocks xmlns:a="http://schemas.openxmlformats.org/drawingml/2006/main" noGrp="1"/>
          </p:cNvSpPr>
          <p:nvPr/>
        </p:nvSpPr>
        <p:spPr>
          <a:xfrm xmlns:a="http://schemas.openxmlformats.org/drawingml/2006/main">
            <a:off x="4191000" y="5219700"/>
            <a:ext cx="1657350" cy="3048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9525">
            <a:solidFill>
              <a:srgbClr val="4F46E5"/>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SYNTHETIC DATA</a:t>
            </a:r>
          </a:p>
        </p:txBody>
      </p:sp>
      <p:sp>
        <p:nvSpPr>
          <p:cNvPr id="9" name="">
            <a:extLst xmlns:a="http://schemas.openxmlformats.org/drawingml/2006/main">
              <a:ext uri="{FF2B5EF4-FFF2-40B4-BE49-F238E27FC236}">
                <a16:creationId xmlns:a16="http://schemas.microsoft.com/office/drawing/2014/main" id="{6B38AC88-98AB-4A35-99F7-933287272131}"/>
              </a:ext>
            </a:extLst>
          </p:cNvPr>
          <p:cNvSpPr>
            <a:spLocks xmlns:a="http://schemas.openxmlformats.org/drawingml/2006/main" noGrp="1"/>
          </p:cNvSpPr>
          <p:nvPr/>
        </p:nvSpPr>
        <p:spPr>
          <a:xfrm xmlns:a="http://schemas.openxmlformats.org/drawingml/2006/main">
            <a:off x="704850" y="59055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B9E9EF"/>
                </a:solidFill>
              </a:defRPr>
            </a:pPr>
            <a:r>
              <a:rPr sz="1125" b="0">
                <a:solidFill>
                  <a:srgbClr val="B9E9EF"/>
                </a:solidFill>
              </a:rPr>
              <a:t>Four pillars • medical-specific demos • qualified human decisions</a:t>
            </a:r>
          </a:p>
        </p:txBody>
      </p:sp>
      <p:sp>
        <p:nvSpPr>
          <p:cNvPr id="10" name="">
            <a:extLst xmlns:a="http://schemas.openxmlformats.org/drawingml/2006/main">
              <a:ext uri="{FF2B5EF4-FFF2-40B4-BE49-F238E27FC236}">
                <a16:creationId xmlns:a16="http://schemas.microsoft.com/office/drawing/2014/main" id="{F70CCFA6-5015-4044-9254-53D29521CEAF}"/>
              </a:ext>
            </a:extLst>
          </p:cNvPr>
          <p:cNvSpPr>
            <a:spLocks xmlns:a="http://schemas.openxmlformats.org/drawingml/2006/main" noGrp="1"/>
          </p:cNvSpPr>
          <p:nvPr/>
        </p:nvSpPr>
        <p:spPr>
          <a:xfrm xmlns:a="http://schemas.openxmlformats.org/drawingml/2006/main">
            <a:off x="8001000" y="1200150"/>
            <a:ext cx="3162300" cy="87630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A6571B1-DF03-4EA9-83C8-ED45F06967BD}"/>
              </a:ext>
            </a:extLst>
          </p:cNvPr>
          <p:cNvSpPr>
            <a:spLocks xmlns:a="http://schemas.openxmlformats.org/drawingml/2006/main" noGrp="1"/>
          </p:cNvSpPr>
          <p:nvPr/>
        </p:nvSpPr>
        <p:spPr>
          <a:xfrm xmlns:a="http://schemas.openxmlformats.org/drawingml/2006/main">
            <a:off x="8229600" y="14097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891B2"/>
                </a:solidFill>
              </a:defRPr>
            </a:pPr>
            <a:r>
              <a:rPr sz="1950" b="1">
                <a:solidFill>
                  <a:srgbClr val="0891B2"/>
                </a:solidFill>
              </a:rPr>
              <a:t>🤝</a:t>
            </a:r>
          </a:p>
        </p:txBody>
      </p:sp>
      <p:sp>
        <p:nvSpPr>
          <p:cNvPr id="12" name="">
            <a:extLst xmlns:a="http://schemas.openxmlformats.org/drawingml/2006/main">
              <a:ext uri="{FF2B5EF4-FFF2-40B4-BE49-F238E27FC236}">
                <a16:creationId xmlns:a16="http://schemas.microsoft.com/office/drawing/2014/main" id="{259A2B7B-4C1F-459C-8F28-57E5DC2A809E}"/>
              </a:ext>
            </a:extLst>
          </p:cNvPr>
          <p:cNvSpPr>
            <a:spLocks xmlns:a="http://schemas.openxmlformats.org/drawingml/2006/main" noGrp="1"/>
          </p:cNvSpPr>
          <p:nvPr/>
        </p:nvSpPr>
        <p:spPr>
          <a:xfrm xmlns:a="http://schemas.openxmlformats.org/drawingml/2006/main">
            <a:off x="8801100" y="14763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73647"/>
                </a:solidFill>
              </a:defRPr>
            </a:pPr>
            <a:r>
              <a:rPr sz="1350" b="1">
                <a:solidFill>
                  <a:srgbClr val="073647"/>
                </a:solidFill>
              </a:rPr>
              <a:t>Patient engagement</a:t>
            </a:r>
          </a:p>
        </p:txBody>
      </p:sp>
      <p:sp>
        <p:nvSpPr>
          <p:cNvPr id="13" name="">
            <a:extLst xmlns:a="http://schemas.openxmlformats.org/drawingml/2006/main">
              <a:ext uri="{FF2B5EF4-FFF2-40B4-BE49-F238E27FC236}">
                <a16:creationId xmlns:a16="http://schemas.microsoft.com/office/drawing/2014/main" id="{EC82ED5B-583C-4AF3-AEEC-1A9723CF61C0}"/>
              </a:ext>
            </a:extLst>
          </p:cNvPr>
          <p:cNvSpPr>
            <a:spLocks xmlns:a="http://schemas.openxmlformats.org/drawingml/2006/main" noGrp="1"/>
          </p:cNvSpPr>
          <p:nvPr/>
        </p:nvSpPr>
        <p:spPr>
          <a:xfrm xmlns:a="http://schemas.openxmlformats.org/drawingml/2006/main">
            <a:off x="8001000" y="2305050"/>
            <a:ext cx="3162300" cy="87630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2730F67-318A-4B16-8C68-A1FE7D2C0E0B}"/>
              </a:ext>
            </a:extLst>
          </p:cNvPr>
          <p:cNvSpPr>
            <a:spLocks xmlns:a="http://schemas.openxmlformats.org/drawingml/2006/main" noGrp="1"/>
          </p:cNvSpPr>
          <p:nvPr/>
        </p:nvSpPr>
        <p:spPr>
          <a:xfrm xmlns:a="http://schemas.openxmlformats.org/drawingml/2006/main">
            <a:off x="8229600" y="25146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F766E"/>
                </a:solidFill>
              </a:defRPr>
            </a:pPr>
            <a:r>
              <a:rPr sz="1950" b="1">
                <a:solidFill>
                  <a:srgbClr val="0F766E"/>
                </a:solidFill>
              </a:rPr>
              <a:t>🩺</a:t>
            </a:r>
          </a:p>
        </p:txBody>
      </p:sp>
      <p:sp>
        <p:nvSpPr>
          <p:cNvPr id="15" name="">
            <a:extLst xmlns:a="http://schemas.openxmlformats.org/drawingml/2006/main">
              <a:ext uri="{FF2B5EF4-FFF2-40B4-BE49-F238E27FC236}">
                <a16:creationId xmlns:a16="http://schemas.microsoft.com/office/drawing/2014/main" id="{C7DAABB2-CFEE-4B0D-A4A1-354C14218C17}"/>
              </a:ext>
            </a:extLst>
          </p:cNvPr>
          <p:cNvSpPr>
            <a:spLocks xmlns:a="http://schemas.openxmlformats.org/drawingml/2006/main" noGrp="1"/>
          </p:cNvSpPr>
          <p:nvPr/>
        </p:nvSpPr>
        <p:spPr>
          <a:xfrm xmlns:a="http://schemas.openxmlformats.org/drawingml/2006/main">
            <a:off x="8801100" y="25812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73647"/>
                </a:solidFill>
              </a:defRPr>
            </a:pPr>
            <a:r>
              <a:rPr sz="1350" b="1">
                <a:solidFill>
                  <a:srgbClr val="073647"/>
                </a:solidFill>
              </a:rPr>
              <a:t>Clinical workflow</a:t>
            </a:r>
          </a:p>
        </p:txBody>
      </p:sp>
      <p:sp>
        <p:nvSpPr>
          <p:cNvPr id="16" name="">
            <a:extLst xmlns:a="http://schemas.openxmlformats.org/drawingml/2006/main">
              <a:ext uri="{FF2B5EF4-FFF2-40B4-BE49-F238E27FC236}">
                <a16:creationId xmlns:a16="http://schemas.microsoft.com/office/drawing/2014/main" id="{86DEBA5E-A866-4A83-8991-0131148E0819}"/>
              </a:ext>
            </a:extLst>
          </p:cNvPr>
          <p:cNvSpPr>
            <a:spLocks xmlns:a="http://schemas.openxmlformats.org/drawingml/2006/main" noGrp="1"/>
          </p:cNvSpPr>
          <p:nvPr/>
        </p:nvSpPr>
        <p:spPr>
          <a:xfrm xmlns:a="http://schemas.openxmlformats.org/drawingml/2006/main">
            <a:off x="8001000" y="3409950"/>
            <a:ext cx="3162300" cy="87630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7AC91FB4-3C1D-4795-BBE2-D9ACD59A47C8}"/>
              </a:ext>
            </a:extLst>
          </p:cNvPr>
          <p:cNvSpPr>
            <a:spLocks xmlns:a="http://schemas.openxmlformats.org/drawingml/2006/main" noGrp="1"/>
          </p:cNvSpPr>
          <p:nvPr/>
        </p:nvSpPr>
        <p:spPr>
          <a:xfrm xmlns:a="http://schemas.openxmlformats.org/drawingml/2006/main">
            <a:off x="8229600" y="36195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4F46E5"/>
                </a:solidFill>
              </a:defRPr>
            </a:pPr>
            <a:r>
              <a:rPr sz="1950" b="1">
                <a:solidFill>
                  <a:srgbClr val="4F46E5"/>
                </a:solidFill>
              </a:rPr>
              <a:t>🔬</a:t>
            </a:r>
          </a:p>
        </p:txBody>
      </p:sp>
      <p:sp>
        <p:nvSpPr>
          <p:cNvPr id="18" name="">
            <a:extLst xmlns:a="http://schemas.openxmlformats.org/drawingml/2006/main">
              <a:ext uri="{FF2B5EF4-FFF2-40B4-BE49-F238E27FC236}">
                <a16:creationId xmlns:a16="http://schemas.microsoft.com/office/drawing/2014/main" id="{C19B9931-CBAF-4722-82A6-AB3D319B3DD6}"/>
              </a:ext>
            </a:extLst>
          </p:cNvPr>
          <p:cNvSpPr>
            <a:spLocks xmlns:a="http://schemas.openxmlformats.org/drawingml/2006/main" noGrp="1"/>
          </p:cNvSpPr>
          <p:nvPr/>
        </p:nvSpPr>
        <p:spPr>
          <a:xfrm xmlns:a="http://schemas.openxmlformats.org/drawingml/2006/main">
            <a:off x="8801100" y="36861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73647"/>
                </a:solidFill>
              </a:defRPr>
            </a:pPr>
            <a:r>
              <a:rPr sz="1350" b="1">
                <a:solidFill>
                  <a:srgbClr val="073647"/>
                </a:solidFill>
              </a:rPr>
              <a:t>Pharma &amp; research</a:t>
            </a:r>
          </a:p>
        </p:txBody>
      </p:sp>
      <p:sp>
        <p:nvSpPr>
          <p:cNvPr id="19" name="">
            <a:extLst xmlns:a="http://schemas.openxmlformats.org/drawingml/2006/main">
              <a:ext uri="{FF2B5EF4-FFF2-40B4-BE49-F238E27FC236}">
                <a16:creationId xmlns:a16="http://schemas.microsoft.com/office/drawing/2014/main" id="{33AE9279-6FC1-4096-91C2-B5F8D48B8FEC}"/>
              </a:ext>
            </a:extLst>
          </p:cNvPr>
          <p:cNvSpPr>
            <a:spLocks xmlns:a="http://schemas.openxmlformats.org/drawingml/2006/main" noGrp="1"/>
          </p:cNvSpPr>
          <p:nvPr/>
        </p:nvSpPr>
        <p:spPr>
          <a:xfrm xmlns:a="http://schemas.openxmlformats.org/drawingml/2006/main">
            <a:off x="8001000" y="4514850"/>
            <a:ext cx="3162300" cy="87630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FFFFF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60C1B41F-1245-4373-9D48-B7DE0D6546DE}"/>
              </a:ext>
            </a:extLst>
          </p:cNvPr>
          <p:cNvSpPr>
            <a:spLocks xmlns:a="http://schemas.openxmlformats.org/drawingml/2006/main" noGrp="1"/>
          </p:cNvSpPr>
          <p:nvPr/>
        </p:nvSpPr>
        <p:spPr>
          <a:xfrm xmlns:a="http://schemas.openxmlformats.org/drawingml/2006/main">
            <a:off x="8229600" y="47244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C2410C"/>
                </a:solidFill>
              </a:defRPr>
            </a:pPr>
            <a:r>
              <a:rPr sz="1950" b="1">
                <a:solidFill>
                  <a:srgbClr val="C2410C"/>
                </a:solidFill>
              </a:rPr>
              <a:t>🛡️</a:t>
            </a:r>
          </a:p>
        </p:txBody>
      </p:sp>
      <p:sp>
        <p:nvSpPr>
          <p:cNvPr id="21" name="">
            <a:extLst xmlns:a="http://schemas.openxmlformats.org/drawingml/2006/main">
              <a:ext uri="{FF2B5EF4-FFF2-40B4-BE49-F238E27FC236}">
                <a16:creationId xmlns:a16="http://schemas.microsoft.com/office/drawing/2014/main" id="{D219B199-9B96-4D48-9F8D-BC07BC7EB1B7}"/>
              </a:ext>
            </a:extLst>
          </p:cNvPr>
          <p:cNvSpPr>
            <a:spLocks xmlns:a="http://schemas.openxmlformats.org/drawingml/2006/main" noGrp="1"/>
          </p:cNvSpPr>
          <p:nvPr/>
        </p:nvSpPr>
        <p:spPr>
          <a:xfrm xmlns:a="http://schemas.openxmlformats.org/drawingml/2006/main">
            <a:off x="8801100" y="47910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73647"/>
                </a:solidFill>
              </a:defRPr>
            </a:pPr>
            <a:r>
              <a:rPr sz="1350" b="1">
                <a:solidFill>
                  <a:srgbClr val="073647"/>
                </a:solidFill>
              </a:rPr>
              <a:t>Responsible AI</a:t>
            </a:r>
          </a:p>
        </p:txBody>
      </p:sp>
    </p:spTree>
    <p:extLst>
      <p:ext uri="{BB962C8B-B14F-4D97-AF65-F5344CB8AC3E}">
        <p14:creationId xmlns:p14="http://schemas.microsoft.com/office/powerpoint/2010/main" val="528443529"/>
      </p:ext>
    </p:extLst>
  </p:cSld>
</p:sld>
</file>

<file path=ppt/slides/slide2.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F4A6EF-8E7A-4153-A5CC-BD63E4F1547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EFDA4C7E-7054-4227-B840-64C34637B64F}"/>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08FA2403-021A-4F61-8187-50FEBF6C2F26}"/>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OPENING</a:t>
            </a:r>
          </a:p>
        </p:txBody>
      </p:sp>
      <p:sp>
        <p:nvSpPr>
          <p:cNvPr id="4" name="slide-title">
            <a:extLst xmlns:a="http://schemas.openxmlformats.org/drawingml/2006/main">
              <a:ext uri="{FF2B5EF4-FFF2-40B4-BE49-F238E27FC236}">
                <a16:creationId xmlns:a16="http://schemas.microsoft.com/office/drawing/2014/main" id="{E6333D5B-678D-4F82-AD05-C5222685C320}"/>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The learning contract</a:t>
            </a:r>
          </a:p>
        </p:txBody>
      </p:sp>
      <p:sp>
        <p:nvSpPr>
          <p:cNvPr id="5" name="slide-subtitle">
            <a:extLst xmlns:a="http://schemas.openxmlformats.org/drawingml/2006/main">
              <a:ext uri="{FF2B5EF4-FFF2-40B4-BE49-F238E27FC236}">
                <a16:creationId xmlns:a16="http://schemas.microsoft.com/office/drawing/2014/main" id="{98586CE7-0C3D-4E16-BA4A-FDBDA8B02EDC}"/>
              </a:ext>
            </a:extLst>
          </p:cNvPr>
          <p:cNvSpPr>
            <a:spLocks xmlns:a="http://schemas.openxmlformats.org/drawingml/2006/main" noGrp="1"/>
          </p:cNvSpPr>
          <p:nvPr/>
        </p:nvSpPr>
        <p:spPr>
          <a:xfrm xmlns:a="http://schemas.openxmlformats.org/drawingml/2006/main">
            <a:off x="609600" y="167640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475569"/>
                </a:solidFill>
              </a:defRPr>
            </a:pPr>
            <a:r>
              <a:rPr sz="1350" b="0">
                <a:solidFill>
                  <a:srgbClr val="475569"/>
                </a:solidFill>
              </a:rPr>
              <a:t>Useful output is not the goal. Verified, accountable workflow improvement is.</a:t>
            </a:r>
          </a:p>
        </p:txBody>
      </p:sp>
      <p:sp>
        <p:nvSpPr>
          <p:cNvPr id="6" name="slide-number">
            <a:extLst xmlns:a="http://schemas.openxmlformats.org/drawingml/2006/main">
              <a:ext uri="{FF2B5EF4-FFF2-40B4-BE49-F238E27FC236}">
                <a16:creationId xmlns:a16="http://schemas.microsoft.com/office/drawing/2014/main" id="{AA70EEE6-1E12-4F23-9E80-E07508D40497}"/>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02</a:t>
            </a:r>
          </a:p>
        </p:txBody>
      </p:sp>
      <p:sp>
        <p:nvSpPr>
          <p:cNvPr id="7" name="footer-title">
            <a:extLst xmlns:a="http://schemas.openxmlformats.org/drawingml/2006/main">
              <a:ext uri="{FF2B5EF4-FFF2-40B4-BE49-F238E27FC236}">
                <a16:creationId xmlns:a16="http://schemas.microsoft.com/office/drawing/2014/main" id="{A324415A-2EED-490F-9274-52927AE8E9F8}"/>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sp>
        <p:nvSpPr>
          <p:cNvPr id="8" name="">
            <a:extLst xmlns:a="http://schemas.openxmlformats.org/drawingml/2006/main">
              <a:ext uri="{FF2B5EF4-FFF2-40B4-BE49-F238E27FC236}">
                <a16:creationId xmlns:a16="http://schemas.microsoft.com/office/drawing/2014/main" id="{0F335C08-C8CC-46D9-8315-89DECAC1DD10}"/>
              </a:ext>
            </a:extLst>
          </p:cNvPr>
          <p:cNvSpPr>
            <a:spLocks xmlns:a="http://schemas.openxmlformats.org/drawingml/2006/main" noGrp="1"/>
          </p:cNvSpPr>
          <p:nvPr/>
        </p:nvSpPr>
        <p:spPr>
          <a:xfrm xmlns:a="http://schemas.openxmlformats.org/drawingml/2006/main">
            <a:off x="609600" y="2457450"/>
            <a:ext cx="514350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81A558A-CD6E-4FDE-8853-478992F5C1F3}"/>
              </a:ext>
            </a:extLst>
          </p:cNvPr>
          <p:cNvSpPr>
            <a:spLocks xmlns:a="http://schemas.openxmlformats.org/drawingml/2006/main" noGrp="1"/>
          </p:cNvSpPr>
          <p:nvPr/>
        </p:nvSpPr>
        <p:spPr>
          <a:xfrm xmlns:a="http://schemas.openxmlformats.org/drawingml/2006/main">
            <a:off x="838200" y="2686050"/>
            <a:ext cx="40005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1</a:t>
            </a:r>
          </a:p>
        </p:txBody>
      </p:sp>
      <p:sp>
        <p:nvSpPr>
          <p:cNvPr id="10" name="">
            <a:extLst xmlns:a="http://schemas.openxmlformats.org/drawingml/2006/main">
              <a:ext uri="{FF2B5EF4-FFF2-40B4-BE49-F238E27FC236}">
                <a16:creationId xmlns:a16="http://schemas.microsoft.com/office/drawing/2014/main" id="{7B47AE38-77E8-4383-8C83-C64825477408}"/>
              </a:ext>
            </a:extLst>
          </p:cNvPr>
          <p:cNvSpPr>
            <a:spLocks xmlns:a="http://schemas.openxmlformats.org/drawingml/2006/main" noGrp="1"/>
          </p:cNvSpPr>
          <p:nvPr/>
        </p:nvSpPr>
        <p:spPr>
          <a:xfrm xmlns:a="http://schemas.openxmlformats.org/drawingml/2006/main">
            <a:off x="1428750" y="268605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73647"/>
                </a:solidFill>
              </a:defRPr>
            </a:pPr>
            <a:r>
              <a:rPr sz="1575" b="1">
                <a:solidFill>
                  <a:srgbClr val="073647"/>
                </a:solidFill>
              </a:rPr>
              <a:t>Use approved data</a:t>
            </a:r>
          </a:p>
        </p:txBody>
      </p:sp>
      <p:sp>
        <p:nvSpPr>
          <p:cNvPr id="11" name="">
            <a:extLst xmlns:a="http://schemas.openxmlformats.org/drawingml/2006/main">
              <a:ext uri="{FF2B5EF4-FFF2-40B4-BE49-F238E27FC236}">
                <a16:creationId xmlns:a16="http://schemas.microsoft.com/office/drawing/2014/main" id="{EE73C17B-A46F-4DC8-B591-13FD04B34A2C}"/>
              </a:ext>
            </a:extLst>
          </p:cNvPr>
          <p:cNvSpPr>
            <a:spLocks xmlns:a="http://schemas.openxmlformats.org/drawingml/2006/main" noGrp="1"/>
          </p:cNvSpPr>
          <p:nvPr/>
        </p:nvSpPr>
        <p:spPr>
          <a:xfrm xmlns:a="http://schemas.openxmlformats.org/drawingml/2006/main">
            <a:off x="1428750" y="3105150"/>
            <a:ext cx="394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Synthetic, public, or institution-approved de-identified inputs only.</a:t>
            </a:r>
          </a:p>
        </p:txBody>
      </p:sp>
      <p:sp>
        <p:nvSpPr>
          <p:cNvPr id="12" name="">
            <a:extLst xmlns:a="http://schemas.openxmlformats.org/drawingml/2006/main">
              <a:ext uri="{FF2B5EF4-FFF2-40B4-BE49-F238E27FC236}">
                <a16:creationId xmlns:a16="http://schemas.microsoft.com/office/drawing/2014/main" id="{ADADF5E1-76CE-43C7-8897-DA2CE9921B21}"/>
              </a:ext>
            </a:extLst>
          </p:cNvPr>
          <p:cNvSpPr>
            <a:spLocks xmlns:a="http://schemas.openxmlformats.org/drawingml/2006/main" noGrp="1"/>
          </p:cNvSpPr>
          <p:nvPr/>
        </p:nvSpPr>
        <p:spPr>
          <a:xfrm xmlns:a="http://schemas.openxmlformats.org/drawingml/2006/main">
            <a:off x="6096000" y="2457450"/>
            <a:ext cx="514350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E0D89A86-ED3C-45E7-ADE0-7F6F897A596F}"/>
              </a:ext>
            </a:extLst>
          </p:cNvPr>
          <p:cNvSpPr>
            <a:spLocks xmlns:a="http://schemas.openxmlformats.org/drawingml/2006/main" noGrp="1"/>
          </p:cNvSpPr>
          <p:nvPr/>
        </p:nvSpPr>
        <p:spPr>
          <a:xfrm xmlns:a="http://schemas.openxmlformats.org/drawingml/2006/main">
            <a:off x="6324600" y="2686050"/>
            <a:ext cx="40005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2</a:t>
            </a:r>
          </a:p>
        </p:txBody>
      </p:sp>
      <p:sp>
        <p:nvSpPr>
          <p:cNvPr id="14" name="">
            <a:extLst xmlns:a="http://schemas.openxmlformats.org/drawingml/2006/main">
              <a:ext uri="{FF2B5EF4-FFF2-40B4-BE49-F238E27FC236}">
                <a16:creationId xmlns:a16="http://schemas.microsoft.com/office/drawing/2014/main" id="{4D252E6D-C635-4BFC-8919-F8ECAF5B9FEA}"/>
              </a:ext>
            </a:extLst>
          </p:cNvPr>
          <p:cNvSpPr>
            <a:spLocks xmlns:a="http://schemas.openxmlformats.org/drawingml/2006/main" noGrp="1"/>
          </p:cNvSpPr>
          <p:nvPr/>
        </p:nvSpPr>
        <p:spPr>
          <a:xfrm xmlns:a="http://schemas.openxmlformats.org/drawingml/2006/main">
            <a:off x="6915150" y="268605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73647"/>
                </a:solidFill>
              </a:defRPr>
            </a:pPr>
            <a:r>
              <a:rPr sz="1575" b="1">
                <a:solidFill>
                  <a:srgbClr val="073647"/>
                </a:solidFill>
              </a:rPr>
              <a:t>Bound the task</a:t>
            </a:r>
          </a:p>
        </p:txBody>
      </p:sp>
      <p:sp>
        <p:nvSpPr>
          <p:cNvPr id="15" name="">
            <a:extLst xmlns:a="http://schemas.openxmlformats.org/drawingml/2006/main">
              <a:ext uri="{FF2B5EF4-FFF2-40B4-BE49-F238E27FC236}">
                <a16:creationId xmlns:a16="http://schemas.microsoft.com/office/drawing/2014/main" id="{D2533918-9DBA-4F21-A8AF-9F7D75A683E0}"/>
              </a:ext>
            </a:extLst>
          </p:cNvPr>
          <p:cNvSpPr>
            <a:spLocks xmlns:a="http://schemas.openxmlformats.org/drawingml/2006/main" noGrp="1"/>
          </p:cNvSpPr>
          <p:nvPr/>
        </p:nvSpPr>
        <p:spPr>
          <a:xfrm xmlns:a="http://schemas.openxmlformats.org/drawingml/2006/main">
            <a:off x="6915150" y="3105150"/>
            <a:ext cx="394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Draft, extract, structure, compare, or explain—never silently decide.</a:t>
            </a:r>
          </a:p>
        </p:txBody>
      </p:sp>
      <p:sp>
        <p:nvSpPr>
          <p:cNvPr id="16" name="">
            <a:extLst xmlns:a="http://schemas.openxmlformats.org/drawingml/2006/main">
              <a:ext uri="{FF2B5EF4-FFF2-40B4-BE49-F238E27FC236}">
                <a16:creationId xmlns:a16="http://schemas.microsoft.com/office/drawing/2014/main" id="{46A4EC19-9907-4BFD-ADD9-4B9B39E16510}"/>
              </a:ext>
            </a:extLst>
          </p:cNvPr>
          <p:cNvSpPr>
            <a:spLocks xmlns:a="http://schemas.openxmlformats.org/drawingml/2006/main" noGrp="1"/>
          </p:cNvSpPr>
          <p:nvPr/>
        </p:nvSpPr>
        <p:spPr>
          <a:xfrm xmlns:a="http://schemas.openxmlformats.org/drawingml/2006/main">
            <a:off x="609600" y="4133850"/>
            <a:ext cx="514350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4F53BD5-713C-4934-806A-FD99F670EE6F}"/>
              </a:ext>
            </a:extLst>
          </p:cNvPr>
          <p:cNvSpPr>
            <a:spLocks xmlns:a="http://schemas.openxmlformats.org/drawingml/2006/main" noGrp="1"/>
          </p:cNvSpPr>
          <p:nvPr/>
        </p:nvSpPr>
        <p:spPr>
          <a:xfrm xmlns:a="http://schemas.openxmlformats.org/drawingml/2006/main">
            <a:off x="838200" y="4362450"/>
            <a:ext cx="400050" cy="3048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9525">
            <a:solidFill>
              <a:srgbClr val="4F46E5"/>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3</a:t>
            </a:r>
          </a:p>
        </p:txBody>
      </p:sp>
      <p:sp>
        <p:nvSpPr>
          <p:cNvPr id="18" name="">
            <a:extLst xmlns:a="http://schemas.openxmlformats.org/drawingml/2006/main">
              <a:ext uri="{FF2B5EF4-FFF2-40B4-BE49-F238E27FC236}">
                <a16:creationId xmlns:a16="http://schemas.microsoft.com/office/drawing/2014/main" id="{F755C319-11CD-4EB4-B250-C02D69E38E98}"/>
              </a:ext>
            </a:extLst>
          </p:cNvPr>
          <p:cNvSpPr>
            <a:spLocks xmlns:a="http://schemas.openxmlformats.org/drawingml/2006/main" noGrp="1"/>
          </p:cNvSpPr>
          <p:nvPr/>
        </p:nvSpPr>
        <p:spPr>
          <a:xfrm xmlns:a="http://schemas.openxmlformats.org/drawingml/2006/main">
            <a:off x="1428750" y="436245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73647"/>
                </a:solidFill>
              </a:defRPr>
            </a:pPr>
            <a:r>
              <a:rPr sz="1575" b="1">
                <a:solidFill>
                  <a:srgbClr val="073647"/>
                </a:solidFill>
              </a:rPr>
              <a:t>Verify the source</a:t>
            </a:r>
          </a:p>
        </p:txBody>
      </p:sp>
      <p:sp>
        <p:nvSpPr>
          <p:cNvPr id="19" name="">
            <a:extLst xmlns:a="http://schemas.openxmlformats.org/drawingml/2006/main">
              <a:ext uri="{FF2B5EF4-FFF2-40B4-BE49-F238E27FC236}">
                <a16:creationId xmlns:a16="http://schemas.microsoft.com/office/drawing/2014/main" id="{D69AD598-713B-445D-AD47-0635D1A2641C}"/>
              </a:ext>
            </a:extLst>
          </p:cNvPr>
          <p:cNvSpPr>
            <a:spLocks xmlns:a="http://schemas.openxmlformats.org/drawingml/2006/main" noGrp="1"/>
          </p:cNvSpPr>
          <p:nvPr/>
        </p:nvSpPr>
        <p:spPr>
          <a:xfrm xmlns:a="http://schemas.openxmlformats.org/drawingml/2006/main">
            <a:off x="1428750" y="4781550"/>
            <a:ext cx="394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Check every consequential fact, citation, ambiguity, and omission.</a:t>
            </a:r>
          </a:p>
        </p:txBody>
      </p:sp>
      <p:sp>
        <p:nvSpPr>
          <p:cNvPr id="20" name="">
            <a:extLst xmlns:a="http://schemas.openxmlformats.org/drawingml/2006/main">
              <a:ext uri="{FF2B5EF4-FFF2-40B4-BE49-F238E27FC236}">
                <a16:creationId xmlns:a16="http://schemas.microsoft.com/office/drawing/2014/main" id="{26E28CA1-AD9E-48D5-A692-B8C4D5B3603D}"/>
              </a:ext>
            </a:extLst>
          </p:cNvPr>
          <p:cNvSpPr>
            <a:spLocks xmlns:a="http://schemas.openxmlformats.org/drawingml/2006/main" noGrp="1"/>
          </p:cNvSpPr>
          <p:nvPr/>
        </p:nvSpPr>
        <p:spPr>
          <a:xfrm xmlns:a="http://schemas.openxmlformats.org/drawingml/2006/main">
            <a:off x="6096000" y="4133850"/>
            <a:ext cx="514350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049E28D9-0A88-449A-AD42-F57E6E5065BB}"/>
              </a:ext>
            </a:extLst>
          </p:cNvPr>
          <p:cNvSpPr>
            <a:spLocks xmlns:a="http://schemas.openxmlformats.org/drawingml/2006/main" noGrp="1"/>
          </p:cNvSpPr>
          <p:nvPr/>
        </p:nvSpPr>
        <p:spPr>
          <a:xfrm xmlns:a="http://schemas.openxmlformats.org/drawingml/2006/main">
            <a:off x="6324600" y="4362450"/>
            <a:ext cx="400050" cy="30480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4</a:t>
            </a:r>
          </a:p>
        </p:txBody>
      </p:sp>
      <p:sp>
        <p:nvSpPr>
          <p:cNvPr id="22" name="">
            <a:extLst xmlns:a="http://schemas.openxmlformats.org/drawingml/2006/main">
              <a:ext uri="{FF2B5EF4-FFF2-40B4-BE49-F238E27FC236}">
                <a16:creationId xmlns:a16="http://schemas.microsoft.com/office/drawing/2014/main" id="{EC6BF111-B139-4828-B60A-0D6C7FF9EEDA}"/>
              </a:ext>
            </a:extLst>
          </p:cNvPr>
          <p:cNvSpPr>
            <a:spLocks xmlns:a="http://schemas.openxmlformats.org/drawingml/2006/main" noGrp="1"/>
          </p:cNvSpPr>
          <p:nvPr/>
        </p:nvSpPr>
        <p:spPr>
          <a:xfrm xmlns:a="http://schemas.openxmlformats.org/drawingml/2006/main">
            <a:off x="6915150" y="436245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73647"/>
                </a:solidFill>
              </a:defRPr>
            </a:pPr>
            <a:r>
              <a:rPr sz="1575" b="1">
                <a:solidFill>
                  <a:srgbClr val="073647"/>
                </a:solidFill>
              </a:rPr>
              <a:t>Keep human authority</a:t>
            </a:r>
          </a:p>
        </p:txBody>
      </p:sp>
      <p:sp>
        <p:nvSpPr>
          <p:cNvPr id="23" name="">
            <a:extLst xmlns:a="http://schemas.openxmlformats.org/drawingml/2006/main">
              <a:ext uri="{FF2B5EF4-FFF2-40B4-BE49-F238E27FC236}">
                <a16:creationId xmlns:a16="http://schemas.microsoft.com/office/drawing/2014/main" id="{AB650CE7-8FF1-4CD4-B7B6-D258C060C5B2}"/>
              </a:ext>
            </a:extLst>
          </p:cNvPr>
          <p:cNvSpPr>
            <a:spLocks xmlns:a="http://schemas.openxmlformats.org/drawingml/2006/main" noGrp="1"/>
          </p:cNvSpPr>
          <p:nvPr/>
        </p:nvSpPr>
        <p:spPr>
          <a:xfrm xmlns:a="http://schemas.openxmlformats.org/drawingml/2006/main">
            <a:off x="6915150" y="4781550"/>
            <a:ext cx="394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Record accept, edit, reject, or escalate—and who owns it.</a:t>
            </a:r>
          </a:p>
        </p:txBody>
      </p:sp>
    </p:spTree>
    <p:extLst>
      <p:ext uri="{BB962C8B-B14F-4D97-AF65-F5344CB8AC3E}">
        <p14:creationId xmlns:p14="http://schemas.microsoft.com/office/powerpoint/2010/main" val="1949939684"/>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83EED1-AA24-4ADB-B71D-B6463E26F17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061C7912-B538-4B3E-B433-0C563D6724D6}"/>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D6BBA41D-D716-4759-A1BC-EF401A2E466F}"/>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PROGRAMME MAP</a:t>
            </a:r>
          </a:p>
        </p:txBody>
      </p:sp>
      <p:sp>
        <p:nvSpPr>
          <p:cNvPr id="4" name="slide-title">
            <a:extLst xmlns:a="http://schemas.openxmlformats.org/drawingml/2006/main">
              <a:ext uri="{FF2B5EF4-FFF2-40B4-BE49-F238E27FC236}">
                <a16:creationId xmlns:a16="http://schemas.microsoft.com/office/drawing/2014/main" id="{21156192-C67B-45BF-8FF6-71D9191BB803}"/>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Four pillars—from patient need to responsible implementation</a:t>
            </a:r>
          </a:p>
        </p:txBody>
      </p:sp>
      <p:sp>
        <p:nvSpPr>
          <p:cNvPr id="5" name="slide-number">
            <a:extLst xmlns:a="http://schemas.openxmlformats.org/drawingml/2006/main">
              <a:ext uri="{FF2B5EF4-FFF2-40B4-BE49-F238E27FC236}">
                <a16:creationId xmlns:a16="http://schemas.microsoft.com/office/drawing/2014/main" id="{18EA3CCE-20A4-40B0-B038-30828A5FDF33}"/>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03</a:t>
            </a:r>
          </a:p>
        </p:txBody>
      </p:sp>
      <p:sp>
        <p:nvSpPr>
          <p:cNvPr id="6" name="footer-title">
            <a:extLst xmlns:a="http://schemas.openxmlformats.org/drawingml/2006/main">
              <a:ext uri="{FF2B5EF4-FFF2-40B4-BE49-F238E27FC236}">
                <a16:creationId xmlns:a16="http://schemas.microsoft.com/office/drawing/2014/main" id="{D020EB47-F171-422F-8131-6E7C9CEDF26C}"/>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sp>
        <p:nvSpPr>
          <p:cNvPr id="7" name="">
            <a:extLst xmlns:a="http://schemas.openxmlformats.org/drawingml/2006/main">
              <a:ext uri="{FF2B5EF4-FFF2-40B4-BE49-F238E27FC236}">
                <a16:creationId xmlns:a16="http://schemas.microsoft.com/office/drawing/2014/main" id="{DCC88482-D069-409C-BCF8-0401A438D588}"/>
              </a:ext>
            </a:extLst>
          </p:cNvPr>
          <p:cNvSpPr>
            <a:spLocks xmlns:a="http://schemas.openxmlformats.org/drawingml/2006/main" noGrp="1"/>
          </p:cNvSpPr>
          <p:nvPr/>
        </p:nvSpPr>
        <p:spPr>
          <a:xfrm xmlns:a="http://schemas.openxmlformats.org/drawingml/2006/main">
            <a:off x="609600" y="2286000"/>
            <a:ext cx="2476500" cy="3181350"/>
          </a:xfrm>
          <a:prstGeom xmlns:a="http://schemas.openxmlformats.org/drawingml/2006/main" prst="roundRect">
            <a:avLst>
              <a:gd name="adj" fmla="val 6154"/>
            </a:avLst>
          </a:prstGeom>
          <a:solidFill xmlns:a="http://schemas.openxmlformats.org/drawingml/2006/main">
            <a:srgbClr val="EFF6FF"/>
          </a:solidFill>
          <a:ln xmlns:a="http://schemas.openxmlformats.org/drawingml/2006/main" w="9525">
            <a:solidFill>
              <a:srgbClr val="0891B2"/>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0B0C2A3E-31FC-45AF-AB86-87C996787C30}"/>
              </a:ext>
            </a:extLst>
          </p:cNvPr>
          <p:cNvSpPr>
            <a:spLocks xmlns:a="http://schemas.openxmlformats.org/drawingml/2006/main" noGrp="1"/>
          </p:cNvSpPr>
          <p:nvPr/>
        </p:nvSpPr>
        <p:spPr>
          <a:xfrm xmlns:a="http://schemas.openxmlformats.org/drawingml/2006/main">
            <a:off x="819150" y="2514600"/>
            <a:ext cx="53340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01</a:t>
            </a:r>
          </a:p>
        </p:txBody>
      </p:sp>
      <p:sp>
        <p:nvSpPr>
          <p:cNvPr id="9" name="">
            <a:extLst xmlns:a="http://schemas.openxmlformats.org/drawingml/2006/main">
              <a:ext uri="{FF2B5EF4-FFF2-40B4-BE49-F238E27FC236}">
                <a16:creationId xmlns:a16="http://schemas.microsoft.com/office/drawing/2014/main" id="{0FD04BD3-8A4B-4C7E-A958-92D4F541BCD6}"/>
              </a:ext>
            </a:extLst>
          </p:cNvPr>
          <p:cNvSpPr>
            <a:spLocks xmlns:a="http://schemas.openxmlformats.org/drawingml/2006/main" noGrp="1"/>
          </p:cNvSpPr>
          <p:nvPr/>
        </p:nvSpPr>
        <p:spPr>
          <a:xfrm xmlns:a="http://schemas.openxmlformats.org/drawingml/2006/main">
            <a:off x="819150" y="3143250"/>
            <a:ext cx="203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3647"/>
                </a:solidFill>
              </a:defRPr>
            </a:pPr>
            <a:r>
              <a:rPr sz="1650" b="1">
                <a:solidFill>
                  <a:srgbClr val="073647"/>
                </a:solidFill>
              </a:rPr>
              <a:t>Patient Understanding</a:t>
            </a:r>
          </a:p>
          <a:p xmlns:a="http://schemas.openxmlformats.org/drawingml/2006/main">
            <a:pPr>
              <a:defRPr sz="1650" b="1">
                <a:solidFill>
                  <a:srgbClr val="073647"/>
                </a:solidFill>
              </a:defRPr>
            </a:pPr>
            <a:r>
              <a:rPr sz="1650" b="1">
                <a:solidFill>
                  <a:srgbClr val="073647"/>
                </a:solidFill>
              </a:rPr>
              <a:t>and Engagement</a:t>
            </a:r>
          </a:p>
        </p:txBody>
      </p:sp>
      <p:sp>
        <p:nvSpPr>
          <p:cNvPr id="10" name="">
            <a:extLst xmlns:a="http://schemas.openxmlformats.org/drawingml/2006/main">
              <a:ext uri="{FF2B5EF4-FFF2-40B4-BE49-F238E27FC236}">
                <a16:creationId xmlns:a16="http://schemas.microsoft.com/office/drawing/2014/main" id="{05A48D6D-8D4F-462A-A2F6-ADB690BB5C87}"/>
              </a:ext>
            </a:extLst>
          </p:cNvPr>
          <p:cNvSpPr>
            <a:spLocks xmlns:a="http://schemas.openxmlformats.org/drawingml/2006/main" noGrp="1"/>
          </p:cNvSpPr>
          <p:nvPr/>
        </p:nvSpPr>
        <p:spPr>
          <a:xfrm xmlns:a="http://schemas.openxmlformats.org/drawingml/2006/main">
            <a:off x="819150" y="4324350"/>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Explain • translate • teach back</a:t>
            </a:r>
          </a:p>
        </p:txBody>
      </p:sp>
      <p:sp>
        <p:nvSpPr>
          <p:cNvPr id="11" name="">
            <a:extLst xmlns:a="http://schemas.openxmlformats.org/drawingml/2006/main">
              <a:ext uri="{FF2B5EF4-FFF2-40B4-BE49-F238E27FC236}">
                <a16:creationId xmlns:a16="http://schemas.microsoft.com/office/drawing/2014/main" id="{BE666A48-DF9A-4287-868F-AC8B87DD463F}"/>
              </a:ext>
            </a:extLst>
          </p:cNvPr>
          <p:cNvSpPr>
            <a:spLocks xmlns:a="http://schemas.openxmlformats.org/drawingml/2006/main" noGrp="1"/>
          </p:cNvSpPr>
          <p:nvPr/>
        </p:nvSpPr>
        <p:spPr>
          <a:xfrm xmlns:a="http://schemas.openxmlformats.org/drawingml/2006/main">
            <a:off x="819150" y="49720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0891B2"/>
                </a:solidFill>
              </a:defRPr>
            </a:pPr>
            <a:r>
              <a:rPr sz="1050" b="1">
                <a:solidFill>
                  <a:srgbClr val="0891B2"/>
                </a:solidFill>
              </a:rPr>
              <a:t>Human decision</a:t>
            </a:r>
          </a:p>
          <a:p xmlns:a="http://schemas.openxmlformats.org/drawingml/2006/main">
            <a:pPr>
              <a:defRPr sz="1050" b="1">
                <a:solidFill>
                  <a:srgbClr val="0891B2"/>
                </a:solidFill>
              </a:defRPr>
            </a:pPr>
            <a:r>
              <a:rPr sz="1050" b="1">
                <a:solidFill>
                  <a:srgbClr val="0891B2"/>
                </a:solidFill>
              </a:rPr>
              <a:t>at the end</a:t>
            </a:r>
          </a:p>
        </p:txBody>
      </p:sp>
      <p:sp>
        <p:nvSpPr>
          <p:cNvPr id="12" name="">
            <a:extLst xmlns:a="http://schemas.openxmlformats.org/drawingml/2006/main">
              <a:ext uri="{FF2B5EF4-FFF2-40B4-BE49-F238E27FC236}">
                <a16:creationId xmlns:a16="http://schemas.microsoft.com/office/drawing/2014/main" id="{8FABE3FD-5233-4AD8-9349-D75415BF9C0F}"/>
              </a:ext>
            </a:extLst>
          </p:cNvPr>
          <p:cNvSpPr>
            <a:spLocks xmlns:a="http://schemas.openxmlformats.org/drawingml/2006/main" noGrp="1"/>
          </p:cNvSpPr>
          <p:nvPr/>
        </p:nvSpPr>
        <p:spPr>
          <a:xfrm xmlns:a="http://schemas.openxmlformats.org/drawingml/2006/main">
            <a:off x="3333750" y="2286000"/>
            <a:ext cx="2476500" cy="3181350"/>
          </a:xfrm>
          <a:prstGeom xmlns:a="http://schemas.openxmlformats.org/drawingml/2006/main" prst="roundRect">
            <a:avLst>
              <a:gd name="adj" fmla="val 6154"/>
            </a:avLst>
          </a:prstGeom>
          <a:solidFill xmlns:a="http://schemas.openxmlformats.org/drawingml/2006/main">
            <a:srgbClr val="ECFDF5"/>
          </a:solidFill>
          <a:ln xmlns:a="http://schemas.openxmlformats.org/drawingml/2006/main" w="9525">
            <a:solidFill>
              <a:srgbClr val="0F766E"/>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A5457358-9772-4E74-A75A-A23955EDD25C}"/>
              </a:ext>
            </a:extLst>
          </p:cNvPr>
          <p:cNvSpPr>
            <a:spLocks xmlns:a="http://schemas.openxmlformats.org/drawingml/2006/main" noGrp="1"/>
          </p:cNvSpPr>
          <p:nvPr/>
        </p:nvSpPr>
        <p:spPr>
          <a:xfrm xmlns:a="http://schemas.openxmlformats.org/drawingml/2006/main">
            <a:off x="3543300" y="2514600"/>
            <a:ext cx="53340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02</a:t>
            </a:r>
          </a:p>
        </p:txBody>
      </p:sp>
      <p:sp>
        <p:nvSpPr>
          <p:cNvPr id="14" name="">
            <a:extLst xmlns:a="http://schemas.openxmlformats.org/drawingml/2006/main">
              <a:ext uri="{FF2B5EF4-FFF2-40B4-BE49-F238E27FC236}">
                <a16:creationId xmlns:a16="http://schemas.microsoft.com/office/drawing/2014/main" id="{02FC3C82-B938-4758-A8C4-DF3AFA9CEAEF}"/>
              </a:ext>
            </a:extLst>
          </p:cNvPr>
          <p:cNvSpPr>
            <a:spLocks xmlns:a="http://schemas.openxmlformats.org/drawingml/2006/main" noGrp="1"/>
          </p:cNvSpPr>
          <p:nvPr/>
        </p:nvSpPr>
        <p:spPr>
          <a:xfrm xmlns:a="http://schemas.openxmlformats.org/drawingml/2006/main">
            <a:off x="3543300" y="3143250"/>
            <a:ext cx="203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3647"/>
                </a:solidFill>
              </a:defRPr>
            </a:pPr>
            <a:r>
              <a:rPr sz="1650" b="1">
                <a:solidFill>
                  <a:srgbClr val="073647"/>
                </a:solidFill>
              </a:rPr>
              <a:t>Clinical Workflow</a:t>
            </a:r>
          </a:p>
          <a:p xmlns:a="http://schemas.openxmlformats.org/drawingml/2006/main">
            <a:pPr>
              <a:defRPr sz="1650" b="1">
                <a:solidFill>
                  <a:srgbClr val="073647"/>
                </a:solidFill>
              </a:defRPr>
            </a:pPr>
            <a:r>
              <a:rPr sz="1650" b="1">
                <a:solidFill>
                  <a:srgbClr val="073647"/>
                </a:solidFill>
              </a:rPr>
              <a:t>and Decision Support</a:t>
            </a:r>
          </a:p>
        </p:txBody>
      </p:sp>
      <p:sp>
        <p:nvSpPr>
          <p:cNvPr id="15" name="">
            <a:extLst xmlns:a="http://schemas.openxmlformats.org/drawingml/2006/main">
              <a:ext uri="{FF2B5EF4-FFF2-40B4-BE49-F238E27FC236}">
                <a16:creationId xmlns:a16="http://schemas.microsoft.com/office/drawing/2014/main" id="{8973D579-E64F-415E-98A8-A06257C9B878}"/>
              </a:ext>
            </a:extLst>
          </p:cNvPr>
          <p:cNvSpPr>
            <a:spLocks xmlns:a="http://schemas.openxmlformats.org/drawingml/2006/main" noGrp="1"/>
          </p:cNvSpPr>
          <p:nvPr/>
        </p:nvSpPr>
        <p:spPr>
          <a:xfrm xmlns:a="http://schemas.openxmlformats.org/drawingml/2006/main">
            <a:off x="3543300" y="4324350"/>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Structure • observe • escalate</a:t>
            </a:r>
          </a:p>
        </p:txBody>
      </p:sp>
      <p:sp>
        <p:nvSpPr>
          <p:cNvPr id="16" name="">
            <a:extLst xmlns:a="http://schemas.openxmlformats.org/drawingml/2006/main">
              <a:ext uri="{FF2B5EF4-FFF2-40B4-BE49-F238E27FC236}">
                <a16:creationId xmlns:a16="http://schemas.microsoft.com/office/drawing/2014/main" id="{C2115679-91B7-4D1B-A528-82636E8DADE1}"/>
              </a:ext>
            </a:extLst>
          </p:cNvPr>
          <p:cNvSpPr>
            <a:spLocks xmlns:a="http://schemas.openxmlformats.org/drawingml/2006/main" noGrp="1"/>
          </p:cNvSpPr>
          <p:nvPr/>
        </p:nvSpPr>
        <p:spPr>
          <a:xfrm xmlns:a="http://schemas.openxmlformats.org/drawingml/2006/main">
            <a:off x="3543300" y="49720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0F766E"/>
                </a:solidFill>
              </a:defRPr>
            </a:pPr>
            <a:r>
              <a:rPr sz="1050" b="1">
                <a:solidFill>
                  <a:srgbClr val="0F766E"/>
                </a:solidFill>
              </a:rPr>
              <a:t>Human decision</a:t>
            </a:r>
          </a:p>
          <a:p xmlns:a="http://schemas.openxmlformats.org/drawingml/2006/main">
            <a:pPr>
              <a:defRPr sz="1050" b="1">
                <a:solidFill>
                  <a:srgbClr val="0F766E"/>
                </a:solidFill>
              </a:defRPr>
            </a:pPr>
            <a:r>
              <a:rPr sz="1050" b="1">
                <a:solidFill>
                  <a:srgbClr val="0F766E"/>
                </a:solidFill>
              </a:rPr>
              <a:t>at the end</a:t>
            </a:r>
          </a:p>
        </p:txBody>
      </p:sp>
      <p:sp>
        <p:nvSpPr>
          <p:cNvPr id="17" name="">
            <a:extLst xmlns:a="http://schemas.openxmlformats.org/drawingml/2006/main">
              <a:ext uri="{FF2B5EF4-FFF2-40B4-BE49-F238E27FC236}">
                <a16:creationId xmlns:a16="http://schemas.microsoft.com/office/drawing/2014/main" id="{0B1B8438-E599-40C4-91E9-B50075E4C62A}"/>
              </a:ext>
            </a:extLst>
          </p:cNvPr>
          <p:cNvSpPr>
            <a:spLocks xmlns:a="http://schemas.openxmlformats.org/drawingml/2006/main" noGrp="1"/>
          </p:cNvSpPr>
          <p:nvPr/>
        </p:nvSpPr>
        <p:spPr>
          <a:xfrm xmlns:a="http://schemas.openxmlformats.org/drawingml/2006/main">
            <a:off x="6057900" y="2286000"/>
            <a:ext cx="2476500" cy="3181350"/>
          </a:xfrm>
          <a:prstGeom xmlns:a="http://schemas.openxmlformats.org/drawingml/2006/main" prst="roundRect">
            <a:avLst>
              <a:gd name="adj" fmla="val 6154"/>
            </a:avLst>
          </a:prstGeom>
          <a:solidFill xmlns:a="http://schemas.openxmlformats.org/drawingml/2006/main">
            <a:srgbClr val="EEF2FF"/>
          </a:solidFill>
          <a:ln xmlns:a="http://schemas.openxmlformats.org/drawingml/2006/main" w="9525">
            <a:solidFill>
              <a:srgbClr val="4F46E5"/>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AE062815-A3AB-4493-ACC8-AEC41C32697C}"/>
              </a:ext>
            </a:extLst>
          </p:cNvPr>
          <p:cNvSpPr>
            <a:spLocks xmlns:a="http://schemas.openxmlformats.org/drawingml/2006/main" noGrp="1"/>
          </p:cNvSpPr>
          <p:nvPr/>
        </p:nvSpPr>
        <p:spPr>
          <a:xfrm xmlns:a="http://schemas.openxmlformats.org/drawingml/2006/main">
            <a:off x="6267450" y="2514600"/>
            <a:ext cx="533400" cy="3048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9525">
            <a:solidFill>
              <a:srgbClr val="4F46E5"/>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03</a:t>
            </a:r>
          </a:p>
        </p:txBody>
      </p:sp>
      <p:sp>
        <p:nvSpPr>
          <p:cNvPr id="19" name="">
            <a:extLst xmlns:a="http://schemas.openxmlformats.org/drawingml/2006/main">
              <a:ext uri="{FF2B5EF4-FFF2-40B4-BE49-F238E27FC236}">
                <a16:creationId xmlns:a16="http://schemas.microsoft.com/office/drawing/2014/main" id="{17B37CB9-D65A-49B3-8C17-E1AC13937492}"/>
              </a:ext>
            </a:extLst>
          </p:cNvPr>
          <p:cNvSpPr>
            <a:spLocks xmlns:a="http://schemas.openxmlformats.org/drawingml/2006/main" noGrp="1"/>
          </p:cNvSpPr>
          <p:nvPr/>
        </p:nvSpPr>
        <p:spPr>
          <a:xfrm xmlns:a="http://schemas.openxmlformats.org/drawingml/2006/main">
            <a:off x="6267450" y="3143250"/>
            <a:ext cx="203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3647"/>
                </a:solidFill>
              </a:defRPr>
            </a:pPr>
            <a:r>
              <a:rPr sz="1650" b="1">
                <a:solidFill>
                  <a:srgbClr val="073647"/>
                </a:solidFill>
              </a:rPr>
              <a:t>Pharma, Research and</a:t>
            </a:r>
          </a:p>
          <a:p xmlns:a="http://schemas.openxmlformats.org/drawingml/2006/main">
            <a:pPr>
              <a:defRPr sz="1650" b="1">
                <a:solidFill>
                  <a:srgbClr val="073647"/>
                </a:solidFill>
              </a:defRPr>
            </a:pPr>
            <a:r>
              <a:rPr sz="1650" b="1">
                <a:solidFill>
                  <a:srgbClr val="073647"/>
                </a:solidFill>
              </a:rPr>
              <a:t>Professional Productivity</a:t>
            </a:r>
          </a:p>
        </p:txBody>
      </p:sp>
      <p:sp>
        <p:nvSpPr>
          <p:cNvPr id="20" name="">
            <a:extLst xmlns:a="http://schemas.openxmlformats.org/drawingml/2006/main">
              <a:ext uri="{FF2B5EF4-FFF2-40B4-BE49-F238E27FC236}">
                <a16:creationId xmlns:a16="http://schemas.microsoft.com/office/drawing/2014/main" id="{8923B59D-6E05-4613-BFD6-AAE13D3B6D2E}"/>
              </a:ext>
            </a:extLst>
          </p:cNvPr>
          <p:cNvSpPr>
            <a:spLocks xmlns:a="http://schemas.openxmlformats.org/drawingml/2006/main" noGrp="1"/>
          </p:cNvSpPr>
          <p:nvPr/>
        </p:nvSpPr>
        <p:spPr>
          <a:xfrm xmlns:a="http://schemas.openxmlformats.org/drawingml/2006/main">
            <a:off x="6267450" y="4324350"/>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Search • extract • document</a:t>
            </a:r>
          </a:p>
        </p:txBody>
      </p:sp>
      <p:sp>
        <p:nvSpPr>
          <p:cNvPr id="21" name="">
            <a:extLst xmlns:a="http://schemas.openxmlformats.org/drawingml/2006/main">
              <a:ext uri="{FF2B5EF4-FFF2-40B4-BE49-F238E27FC236}">
                <a16:creationId xmlns:a16="http://schemas.microsoft.com/office/drawing/2014/main" id="{DBA47BD3-DB5B-43C9-AA55-5CF5D91D222D}"/>
              </a:ext>
            </a:extLst>
          </p:cNvPr>
          <p:cNvSpPr>
            <a:spLocks xmlns:a="http://schemas.openxmlformats.org/drawingml/2006/main" noGrp="1"/>
          </p:cNvSpPr>
          <p:nvPr/>
        </p:nvSpPr>
        <p:spPr>
          <a:xfrm xmlns:a="http://schemas.openxmlformats.org/drawingml/2006/main">
            <a:off x="6267450" y="49720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4F46E5"/>
                </a:solidFill>
              </a:defRPr>
            </a:pPr>
            <a:r>
              <a:rPr sz="1050" b="1">
                <a:solidFill>
                  <a:srgbClr val="4F46E5"/>
                </a:solidFill>
              </a:rPr>
              <a:t>Human decision</a:t>
            </a:r>
          </a:p>
          <a:p xmlns:a="http://schemas.openxmlformats.org/drawingml/2006/main">
            <a:pPr>
              <a:defRPr sz="1050" b="1">
                <a:solidFill>
                  <a:srgbClr val="4F46E5"/>
                </a:solidFill>
              </a:defRPr>
            </a:pPr>
            <a:r>
              <a:rPr sz="1050" b="1">
                <a:solidFill>
                  <a:srgbClr val="4F46E5"/>
                </a:solidFill>
              </a:rPr>
              <a:t>at the end</a:t>
            </a:r>
          </a:p>
        </p:txBody>
      </p:sp>
      <p:sp>
        <p:nvSpPr>
          <p:cNvPr id="22" name="">
            <a:extLst xmlns:a="http://schemas.openxmlformats.org/drawingml/2006/main">
              <a:ext uri="{FF2B5EF4-FFF2-40B4-BE49-F238E27FC236}">
                <a16:creationId xmlns:a16="http://schemas.microsoft.com/office/drawing/2014/main" id="{33CC9A3C-C909-452F-B084-E3DFC42498DB}"/>
              </a:ext>
            </a:extLst>
          </p:cNvPr>
          <p:cNvSpPr>
            <a:spLocks xmlns:a="http://schemas.openxmlformats.org/drawingml/2006/main" noGrp="1"/>
          </p:cNvSpPr>
          <p:nvPr/>
        </p:nvSpPr>
        <p:spPr>
          <a:xfrm xmlns:a="http://schemas.openxmlformats.org/drawingml/2006/main">
            <a:off x="8782050" y="2286000"/>
            <a:ext cx="2476500" cy="3181350"/>
          </a:xfrm>
          <a:prstGeom xmlns:a="http://schemas.openxmlformats.org/drawingml/2006/main" prst="roundRect">
            <a:avLst>
              <a:gd name="adj" fmla="val 6154"/>
            </a:avLst>
          </a:prstGeom>
          <a:solidFill xmlns:a="http://schemas.openxmlformats.org/drawingml/2006/main">
            <a:srgbClr val="FFF7ED"/>
          </a:solidFill>
          <a:ln xmlns:a="http://schemas.openxmlformats.org/drawingml/2006/main" w="9525">
            <a:solidFill>
              <a:srgbClr val="C2410C"/>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3B450E10-4D88-4036-991F-BEF45BD5B048}"/>
              </a:ext>
            </a:extLst>
          </p:cNvPr>
          <p:cNvSpPr>
            <a:spLocks xmlns:a="http://schemas.openxmlformats.org/drawingml/2006/main" noGrp="1"/>
          </p:cNvSpPr>
          <p:nvPr/>
        </p:nvSpPr>
        <p:spPr>
          <a:xfrm xmlns:a="http://schemas.openxmlformats.org/drawingml/2006/main">
            <a:off x="8991600" y="2514600"/>
            <a:ext cx="533400" cy="30480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04</a:t>
            </a:r>
          </a:p>
        </p:txBody>
      </p:sp>
      <p:sp>
        <p:nvSpPr>
          <p:cNvPr id="24" name="">
            <a:extLst xmlns:a="http://schemas.openxmlformats.org/drawingml/2006/main">
              <a:ext uri="{FF2B5EF4-FFF2-40B4-BE49-F238E27FC236}">
                <a16:creationId xmlns:a16="http://schemas.microsoft.com/office/drawing/2014/main" id="{1FE7DBE8-CDF5-4123-9184-35D49A02D435}"/>
              </a:ext>
            </a:extLst>
          </p:cNvPr>
          <p:cNvSpPr>
            <a:spLocks xmlns:a="http://schemas.openxmlformats.org/drawingml/2006/main" noGrp="1"/>
          </p:cNvSpPr>
          <p:nvPr/>
        </p:nvSpPr>
        <p:spPr>
          <a:xfrm xmlns:a="http://schemas.openxmlformats.org/drawingml/2006/main">
            <a:off x="8991600" y="3143250"/>
            <a:ext cx="203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73647"/>
                </a:solidFill>
              </a:defRPr>
            </a:pPr>
            <a:r>
              <a:rPr sz="1650" b="1">
                <a:solidFill>
                  <a:srgbClr val="073647"/>
                </a:solidFill>
              </a:rPr>
              <a:t>Responsible AI, Governance</a:t>
            </a:r>
          </a:p>
          <a:p xmlns:a="http://schemas.openxmlformats.org/drawingml/2006/main">
            <a:pPr>
              <a:defRPr sz="1650" b="1">
                <a:solidFill>
                  <a:srgbClr val="073647"/>
                </a:solidFill>
              </a:defRPr>
            </a:pPr>
            <a:r>
              <a:rPr sz="1650" b="1">
                <a:solidFill>
                  <a:srgbClr val="073647"/>
                </a:solidFill>
              </a:rPr>
              <a:t>and Implementation</a:t>
            </a:r>
          </a:p>
        </p:txBody>
      </p:sp>
      <p:sp>
        <p:nvSpPr>
          <p:cNvPr id="25" name="">
            <a:extLst xmlns:a="http://schemas.openxmlformats.org/drawingml/2006/main">
              <a:ext uri="{FF2B5EF4-FFF2-40B4-BE49-F238E27FC236}">
                <a16:creationId xmlns:a16="http://schemas.microsoft.com/office/drawing/2014/main" id="{D899AF02-7CF5-4FE6-A646-1919C61DDDDB}"/>
              </a:ext>
            </a:extLst>
          </p:cNvPr>
          <p:cNvSpPr>
            <a:spLocks xmlns:a="http://schemas.openxmlformats.org/drawingml/2006/main" noGrp="1"/>
          </p:cNvSpPr>
          <p:nvPr/>
        </p:nvSpPr>
        <p:spPr>
          <a:xfrm xmlns:a="http://schemas.openxmlformats.org/drawingml/2006/main">
            <a:off x="8991600" y="4324350"/>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Classify • control • monitor</a:t>
            </a:r>
          </a:p>
        </p:txBody>
      </p:sp>
      <p:sp>
        <p:nvSpPr>
          <p:cNvPr id="26" name="">
            <a:extLst xmlns:a="http://schemas.openxmlformats.org/drawingml/2006/main">
              <a:ext uri="{FF2B5EF4-FFF2-40B4-BE49-F238E27FC236}">
                <a16:creationId xmlns:a16="http://schemas.microsoft.com/office/drawing/2014/main" id="{144DE134-8C95-4D41-97B8-62FD59043CF3}"/>
              </a:ext>
            </a:extLst>
          </p:cNvPr>
          <p:cNvSpPr>
            <a:spLocks xmlns:a="http://schemas.openxmlformats.org/drawingml/2006/main" noGrp="1"/>
          </p:cNvSpPr>
          <p:nvPr/>
        </p:nvSpPr>
        <p:spPr>
          <a:xfrm xmlns:a="http://schemas.openxmlformats.org/drawingml/2006/main">
            <a:off x="8991600" y="49720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C2410C"/>
                </a:solidFill>
              </a:defRPr>
            </a:pPr>
            <a:r>
              <a:rPr sz="1050" b="1">
                <a:solidFill>
                  <a:srgbClr val="C2410C"/>
                </a:solidFill>
              </a:rPr>
              <a:t>Human decision</a:t>
            </a:r>
          </a:p>
          <a:p xmlns:a="http://schemas.openxmlformats.org/drawingml/2006/main">
            <a:pPr>
              <a:defRPr sz="1050" b="1">
                <a:solidFill>
                  <a:srgbClr val="C2410C"/>
                </a:solidFill>
              </a:defRPr>
            </a:pPr>
            <a:r>
              <a:rPr sz="1050" b="1">
                <a:solidFill>
                  <a:srgbClr val="C2410C"/>
                </a:solidFill>
              </a:rPr>
              <a:t>at the end</a:t>
            </a:r>
          </a:p>
        </p:txBody>
      </p:sp>
    </p:spTree>
    <p:extLst>
      <p:ext uri="{BB962C8B-B14F-4D97-AF65-F5344CB8AC3E}">
        <p14:creationId xmlns:p14="http://schemas.microsoft.com/office/powerpoint/2010/main" val="1269062721"/>
      </p:ext>
    </p:extLst>
  </p:cSld>
</p:sld>
</file>

<file path=ppt/slides/slide4.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90EDAC-079E-402F-AB58-2C34BF5BDC8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EC5CF603-E3D9-4324-8F28-0621B223C039}"/>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4BB1A896-FF31-469A-A902-7A414B0B01CD}"/>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PILLAR 1</a:t>
            </a:r>
          </a:p>
        </p:txBody>
      </p:sp>
      <p:sp>
        <p:nvSpPr>
          <p:cNvPr id="4" name="slide-title">
            <a:extLst xmlns:a="http://schemas.openxmlformats.org/drawingml/2006/main">
              <a:ext uri="{FF2B5EF4-FFF2-40B4-BE49-F238E27FC236}">
                <a16:creationId xmlns:a16="http://schemas.microsoft.com/office/drawing/2014/main" id="{E2DAA9AC-909A-4CB4-91E2-56B09207062D}"/>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Prescription extraction: separate reading from explaining</a:t>
            </a:r>
          </a:p>
        </p:txBody>
      </p:sp>
      <p:sp>
        <p:nvSpPr>
          <p:cNvPr id="5" name="slide-subtitle">
            <a:extLst xmlns:a="http://schemas.openxmlformats.org/drawingml/2006/main">
              <a:ext uri="{FF2B5EF4-FFF2-40B4-BE49-F238E27FC236}">
                <a16:creationId xmlns:a16="http://schemas.microsoft.com/office/drawing/2014/main" id="{1DCB23B1-1331-4CAD-9A54-B11165DE97EA}"/>
              </a:ext>
            </a:extLst>
          </p:cNvPr>
          <p:cNvSpPr>
            <a:spLocks xmlns:a="http://schemas.openxmlformats.org/drawingml/2006/main" noGrp="1"/>
          </p:cNvSpPr>
          <p:nvPr/>
        </p:nvSpPr>
        <p:spPr>
          <a:xfrm xmlns:a="http://schemas.openxmlformats.org/drawingml/2006/main">
            <a:off x="609600" y="167640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475569"/>
                </a:solidFill>
              </a:defRPr>
            </a:pPr>
            <a:r>
              <a:rPr sz="1350" b="0">
                <a:solidFill>
                  <a:srgbClr val="475569"/>
                </a:solidFill>
              </a:rPr>
              <a:t>A synthetic image, an exact source table, and a clinician/pharmacist decision.</a:t>
            </a:r>
          </a:p>
        </p:txBody>
      </p:sp>
      <p:sp>
        <p:nvSpPr>
          <p:cNvPr id="6" name="slide-number">
            <a:extLst xmlns:a="http://schemas.openxmlformats.org/drawingml/2006/main">
              <a:ext uri="{FF2B5EF4-FFF2-40B4-BE49-F238E27FC236}">
                <a16:creationId xmlns:a16="http://schemas.microsoft.com/office/drawing/2014/main" id="{4C9C3C51-FB9B-4C15-B5CA-172AA9DD7D36}"/>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04</a:t>
            </a:r>
          </a:p>
        </p:txBody>
      </p:sp>
      <p:sp>
        <p:nvSpPr>
          <p:cNvPr id="7" name="footer-title">
            <a:extLst xmlns:a="http://schemas.openxmlformats.org/drawingml/2006/main">
              <a:ext uri="{FF2B5EF4-FFF2-40B4-BE49-F238E27FC236}">
                <a16:creationId xmlns:a16="http://schemas.microsoft.com/office/drawing/2014/main" id="{03674627-FB8F-4988-89E1-899ED2FF4D35}"/>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fb9bb49b774d4eed"/>
          <a:stretch xmlns:a="http://schemas.openxmlformats.org/drawingml/2006/main"/>
        </p:blipFill>
        <p:spPr>
          <a:xfrm xmlns:a="http://schemas.openxmlformats.org/drawingml/2006/main">
            <a:off x="1069873" y="2286000"/>
            <a:ext cx="2698955" cy="3486150"/>
          </a:xfrm>
          <a:prstGeom xmlns:a="http://schemas.openxmlformats.org/drawingml/2006/main" prst="roundRect">
            <a:avLst>
              <a:gd name="adj" fmla="val 4372"/>
            </a:avLst>
          </a:prstGeom>
        </p:spPr>
      </p:pic>
      <p:sp>
        <p:nvSpPr>
          <p:cNvPr id="9" name="">
            <a:extLst xmlns:a="http://schemas.openxmlformats.org/drawingml/2006/main">
              <a:ext uri="{FF2B5EF4-FFF2-40B4-BE49-F238E27FC236}">
                <a16:creationId xmlns:a16="http://schemas.microsoft.com/office/drawing/2014/main" id="{55E42F23-E85E-4013-9F09-6A10A87EFFAB}"/>
              </a:ext>
            </a:extLst>
          </p:cNvPr>
          <p:cNvSpPr>
            <a:spLocks xmlns:a="http://schemas.openxmlformats.org/drawingml/2006/main" noGrp="1"/>
          </p:cNvSpPr>
          <p:nvPr/>
        </p:nvSpPr>
        <p:spPr>
          <a:xfrm xmlns:a="http://schemas.openxmlformats.org/drawingml/2006/main">
            <a:off x="4648200" y="2305050"/>
            <a:ext cx="40005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1</a:t>
            </a:r>
          </a:p>
        </p:txBody>
      </p:sp>
      <p:sp>
        <p:nvSpPr>
          <p:cNvPr id="10" name="">
            <a:extLst xmlns:a="http://schemas.openxmlformats.org/drawingml/2006/main">
              <a:ext uri="{FF2B5EF4-FFF2-40B4-BE49-F238E27FC236}">
                <a16:creationId xmlns:a16="http://schemas.microsoft.com/office/drawing/2014/main" id="{34F7FB8B-8B82-48A9-BBB0-B28B15E3600C}"/>
              </a:ext>
            </a:extLst>
          </p:cNvPr>
          <p:cNvSpPr>
            <a:spLocks xmlns:a="http://schemas.openxmlformats.org/drawingml/2006/main" noGrp="1"/>
          </p:cNvSpPr>
          <p:nvPr/>
        </p:nvSpPr>
        <p:spPr>
          <a:xfrm xmlns:a="http://schemas.openxmlformats.org/drawingml/2006/main">
            <a:off x="5219700" y="2286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Extract</a:t>
            </a:r>
          </a:p>
        </p:txBody>
      </p:sp>
      <p:sp>
        <p:nvSpPr>
          <p:cNvPr id="11" name="">
            <a:extLst xmlns:a="http://schemas.openxmlformats.org/drawingml/2006/main">
              <a:ext uri="{FF2B5EF4-FFF2-40B4-BE49-F238E27FC236}">
                <a16:creationId xmlns:a16="http://schemas.microsoft.com/office/drawing/2014/main" id="{DB13C7F4-CEE4-479B-BFEA-6A7252F745EE}"/>
              </a:ext>
            </a:extLst>
          </p:cNvPr>
          <p:cNvSpPr>
            <a:spLocks xmlns:a="http://schemas.openxmlformats.org/drawingml/2006/main" noGrp="1"/>
          </p:cNvSpPr>
          <p:nvPr/>
        </p:nvSpPr>
        <p:spPr>
          <a:xfrm xmlns:a="http://schemas.openxmlformats.org/drawingml/2006/main">
            <a:off x="5219700" y="25908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Transcribe legible fields exactly.</a:t>
            </a:r>
          </a:p>
        </p:txBody>
      </p:sp>
      <p:sp>
        <p:nvSpPr>
          <p:cNvPr id="12" name="">
            <a:extLst xmlns:a="http://schemas.openxmlformats.org/drawingml/2006/main">
              <a:ext uri="{FF2B5EF4-FFF2-40B4-BE49-F238E27FC236}">
                <a16:creationId xmlns:a16="http://schemas.microsoft.com/office/drawing/2014/main" id="{A880B8D2-57A0-4B90-882A-37A371EAC321}"/>
              </a:ext>
            </a:extLst>
          </p:cNvPr>
          <p:cNvSpPr>
            <a:spLocks xmlns:a="http://schemas.openxmlformats.org/drawingml/2006/main" noGrp="1"/>
          </p:cNvSpPr>
          <p:nvPr/>
        </p:nvSpPr>
        <p:spPr>
          <a:xfrm xmlns:a="http://schemas.openxmlformats.org/drawingml/2006/main">
            <a:off x="4648200" y="3124200"/>
            <a:ext cx="40005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2</a:t>
            </a:r>
          </a:p>
        </p:txBody>
      </p:sp>
      <p:sp>
        <p:nvSpPr>
          <p:cNvPr id="13" name="">
            <a:extLst xmlns:a="http://schemas.openxmlformats.org/drawingml/2006/main">
              <a:ext uri="{FF2B5EF4-FFF2-40B4-BE49-F238E27FC236}">
                <a16:creationId xmlns:a16="http://schemas.microsoft.com/office/drawing/2014/main" id="{182E27FA-E482-44E9-A0B0-3A5D000793EC}"/>
              </a:ext>
            </a:extLst>
          </p:cNvPr>
          <p:cNvSpPr>
            <a:spLocks xmlns:a="http://schemas.openxmlformats.org/drawingml/2006/main" noGrp="1"/>
          </p:cNvSpPr>
          <p:nvPr/>
        </p:nvSpPr>
        <p:spPr>
          <a:xfrm xmlns:a="http://schemas.openxmlformats.org/drawingml/2006/main">
            <a:off x="5219700" y="31051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Flag</a:t>
            </a:r>
          </a:p>
        </p:txBody>
      </p:sp>
      <p:sp>
        <p:nvSpPr>
          <p:cNvPr id="14" name="">
            <a:extLst xmlns:a="http://schemas.openxmlformats.org/drawingml/2006/main">
              <a:ext uri="{FF2B5EF4-FFF2-40B4-BE49-F238E27FC236}">
                <a16:creationId xmlns:a16="http://schemas.microsoft.com/office/drawing/2014/main" id="{F8E518F2-245A-4ADC-B66B-1530067AF728}"/>
              </a:ext>
            </a:extLst>
          </p:cNvPr>
          <p:cNvSpPr>
            <a:spLocks xmlns:a="http://schemas.openxmlformats.org/drawingml/2006/main" noGrp="1"/>
          </p:cNvSpPr>
          <p:nvPr/>
        </p:nvSpPr>
        <p:spPr>
          <a:xfrm xmlns:a="http://schemas.openxmlformats.org/drawingml/2006/main">
            <a:off x="5219700" y="34099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Mark ambiguity [UNREADABLE]; never guess.</a:t>
            </a:r>
          </a:p>
        </p:txBody>
      </p:sp>
      <p:sp>
        <p:nvSpPr>
          <p:cNvPr id="15" name="">
            <a:extLst xmlns:a="http://schemas.openxmlformats.org/drawingml/2006/main">
              <a:ext uri="{FF2B5EF4-FFF2-40B4-BE49-F238E27FC236}">
                <a16:creationId xmlns:a16="http://schemas.microsoft.com/office/drawing/2014/main" id="{69B3CDCA-654B-4287-AEB5-D8C913E5F98F}"/>
              </a:ext>
            </a:extLst>
          </p:cNvPr>
          <p:cNvSpPr>
            <a:spLocks xmlns:a="http://schemas.openxmlformats.org/drawingml/2006/main" noGrp="1"/>
          </p:cNvSpPr>
          <p:nvPr/>
        </p:nvSpPr>
        <p:spPr>
          <a:xfrm xmlns:a="http://schemas.openxmlformats.org/drawingml/2006/main">
            <a:off x="4648200" y="3943350"/>
            <a:ext cx="40005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3</a:t>
            </a:r>
          </a:p>
        </p:txBody>
      </p:sp>
      <p:sp>
        <p:nvSpPr>
          <p:cNvPr id="16" name="">
            <a:extLst xmlns:a="http://schemas.openxmlformats.org/drawingml/2006/main">
              <a:ext uri="{FF2B5EF4-FFF2-40B4-BE49-F238E27FC236}">
                <a16:creationId xmlns:a16="http://schemas.microsoft.com/office/drawing/2014/main" id="{6DFCA86A-1F6A-4E71-BEB9-B5D5C3BCDB8B}"/>
              </a:ext>
            </a:extLst>
          </p:cNvPr>
          <p:cNvSpPr>
            <a:spLocks xmlns:a="http://schemas.openxmlformats.org/drawingml/2006/main" noGrp="1"/>
          </p:cNvSpPr>
          <p:nvPr/>
        </p:nvSpPr>
        <p:spPr>
          <a:xfrm xmlns:a="http://schemas.openxmlformats.org/drawingml/2006/main">
            <a:off x="5219700" y="3924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Explain</a:t>
            </a:r>
          </a:p>
        </p:txBody>
      </p:sp>
      <p:sp>
        <p:nvSpPr>
          <p:cNvPr id="17" name="">
            <a:extLst xmlns:a="http://schemas.openxmlformats.org/drawingml/2006/main">
              <a:ext uri="{FF2B5EF4-FFF2-40B4-BE49-F238E27FC236}">
                <a16:creationId xmlns:a16="http://schemas.microsoft.com/office/drawing/2014/main" id="{D6548028-95D4-4168-B2AB-291A53C1A7CC}"/>
              </a:ext>
            </a:extLst>
          </p:cNvPr>
          <p:cNvSpPr>
            <a:spLocks xmlns:a="http://schemas.openxmlformats.org/drawingml/2006/main" noGrp="1"/>
          </p:cNvSpPr>
          <p:nvPr/>
        </p:nvSpPr>
        <p:spPr>
          <a:xfrm xmlns:a="http://schemas.openxmlformats.org/drawingml/2006/main">
            <a:off x="5219700" y="42291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Use plain language without adding advice.</a:t>
            </a:r>
          </a:p>
        </p:txBody>
      </p:sp>
      <p:sp>
        <p:nvSpPr>
          <p:cNvPr id="18" name="">
            <a:extLst xmlns:a="http://schemas.openxmlformats.org/drawingml/2006/main">
              <a:ext uri="{FF2B5EF4-FFF2-40B4-BE49-F238E27FC236}">
                <a16:creationId xmlns:a16="http://schemas.microsoft.com/office/drawing/2014/main" id="{F063FC0A-D404-4FF1-88D1-487CCD0521C5}"/>
              </a:ext>
            </a:extLst>
          </p:cNvPr>
          <p:cNvSpPr>
            <a:spLocks xmlns:a="http://schemas.openxmlformats.org/drawingml/2006/main" noGrp="1"/>
          </p:cNvSpPr>
          <p:nvPr/>
        </p:nvSpPr>
        <p:spPr>
          <a:xfrm xmlns:a="http://schemas.openxmlformats.org/drawingml/2006/main">
            <a:off x="4648200" y="4762500"/>
            <a:ext cx="40005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4</a:t>
            </a:r>
          </a:p>
        </p:txBody>
      </p:sp>
      <p:sp>
        <p:nvSpPr>
          <p:cNvPr id="19" name="">
            <a:extLst xmlns:a="http://schemas.openxmlformats.org/drawingml/2006/main">
              <a:ext uri="{FF2B5EF4-FFF2-40B4-BE49-F238E27FC236}">
                <a16:creationId xmlns:a16="http://schemas.microsoft.com/office/drawing/2014/main" id="{BA123605-D30B-4F1B-A318-4FACCAE5BA29}"/>
              </a:ext>
            </a:extLst>
          </p:cNvPr>
          <p:cNvSpPr>
            <a:spLocks xmlns:a="http://schemas.openxmlformats.org/drawingml/2006/main" noGrp="1"/>
          </p:cNvSpPr>
          <p:nvPr/>
        </p:nvSpPr>
        <p:spPr>
          <a:xfrm xmlns:a="http://schemas.openxmlformats.org/drawingml/2006/main">
            <a:off x="521970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Verify</a:t>
            </a:r>
          </a:p>
        </p:txBody>
      </p:sp>
      <p:sp>
        <p:nvSpPr>
          <p:cNvPr id="20" name="">
            <a:extLst xmlns:a="http://schemas.openxmlformats.org/drawingml/2006/main">
              <a:ext uri="{FF2B5EF4-FFF2-40B4-BE49-F238E27FC236}">
                <a16:creationId xmlns:a16="http://schemas.microsoft.com/office/drawing/2014/main" id="{CE1A422A-D405-44A5-AFC5-84785AD20CDC}"/>
              </a:ext>
            </a:extLst>
          </p:cNvPr>
          <p:cNvSpPr>
            <a:spLocks xmlns:a="http://schemas.openxmlformats.org/drawingml/2006/main" noGrp="1"/>
          </p:cNvSpPr>
          <p:nvPr/>
        </p:nvSpPr>
        <p:spPr>
          <a:xfrm xmlns:a="http://schemas.openxmlformats.org/drawingml/2006/main">
            <a:off x="5219700" y="5048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Compare field-by-field; record human decision.</a:t>
            </a:r>
          </a:p>
        </p:txBody>
      </p:sp>
      <p:sp>
        <p:nvSpPr>
          <p:cNvPr id="21" name="">
            <a:extLst xmlns:a="http://schemas.openxmlformats.org/drawingml/2006/main">
              <a:ext uri="{FF2B5EF4-FFF2-40B4-BE49-F238E27FC236}">
                <a16:creationId xmlns:a16="http://schemas.microsoft.com/office/drawing/2014/main" id="{FCBA047A-34F1-488B-8A99-7EC8ACA6CE4C}"/>
              </a:ext>
            </a:extLst>
          </p:cNvPr>
          <p:cNvSpPr>
            <a:spLocks xmlns:a="http://schemas.openxmlformats.org/drawingml/2006/main" noGrp="1"/>
          </p:cNvSpPr>
          <p:nvPr/>
        </p:nvSpPr>
        <p:spPr>
          <a:xfrm xmlns:a="http://schemas.openxmlformats.org/drawingml/2006/main">
            <a:off x="8782050" y="2305050"/>
            <a:ext cx="2800350" cy="3276600"/>
          </a:xfrm>
          <a:prstGeom xmlns:a="http://schemas.openxmlformats.org/drawingml/2006/main" prst="roundRect">
            <a:avLst>
              <a:gd name="adj" fmla="val 5442"/>
            </a:avLst>
          </a:prstGeom>
          <a:solidFill xmlns:a="http://schemas.openxmlformats.org/drawingml/2006/main">
            <a:srgbClr val="FFF7ED"/>
          </a:solidFill>
          <a:ln xmlns:a="http://schemas.openxmlformats.org/drawingml/2006/main" w="9525">
            <a:solidFill>
              <a:srgbClr val="FDBA7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C24B0552-2D86-4C2C-AB46-25BB1C31EE16}"/>
              </a:ext>
            </a:extLst>
          </p:cNvPr>
          <p:cNvSpPr>
            <a:spLocks xmlns:a="http://schemas.openxmlformats.org/drawingml/2006/main" noGrp="1"/>
          </p:cNvSpPr>
          <p:nvPr/>
        </p:nvSpPr>
        <p:spPr>
          <a:xfrm xmlns:a="http://schemas.openxmlformats.org/drawingml/2006/main">
            <a:off x="9029700" y="25717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C2410C"/>
                </a:solidFill>
              </a:defRPr>
            </a:pPr>
            <a:r>
              <a:rPr sz="1425" b="1">
                <a:solidFill>
                  <a:srgbClr val="C2410C"/>
                </a:solidFill>
              </a:rPr>
              <a:t>Never let the model</a:t>
            </a:r>
          </a:p>
        </p:txBody>
      </p:sp>
      <p:sp>
        <p:nvSpPr>
          <p:cNvPr id="23" name="">
            <a:extLst xmlns:a="http://schemas.openxmlformats.org/drawingml/2006/main">
              <a:ext uri="{FF2B5EF4-FFF2-40B4-BE49-F238E27FC236}">
                <a16:creationId xmlns:a16="http://schemas.microsoft.com/office/drawing/2014/main" id="{427AEB12-E669-4456-9961-9860F186A0F5}"/>
              </a:ext>
            </a:extLst>
          </p:cNvPr>
          <p:cNvSpPr>
            <a:spLocks xmlns:a="http://schemas.openxmlformats.org/drawingml/2006/main" noGrp="1"/>
          </p:cNvSpPr>
          <p:nvPr/>
        </p:nvSpPr>
        <p:spPr>
          <a:xfrm xmlns:a="http://schemas.openxmlformats.org/drawingml/2006/main">
            <a:off x="9029700" y="3048000"/>
            <a:ext cx="21907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0F172A"/>
                </a:solidFill>
              </a:defRPr>
            </a:pPr>
            <a:r>
              <a:rPr sz="1200" b="0">
                <a:solidFill>
                  <a:srgbClr val="0F172A"/>
                </a:solidFill>
              </a:rPr>
              <a:t>• reconstruct unclear text</a:t>
            </a:r>
          </a:p>
          <a:p xmlns:a="http://schemas.openxmlformats.org/drawingml/2006/main">
            <a:pPr>
              <a:defRPr sz="1200" b="0">
                <a:solidFill>
                  <a:srgbClr val="0F172A"/>
                </a:solidFill>
              </a:defRPr>
            </a:pPr>
            <a:r>
              <a:rPr sz="1200" b="0">
                <a:solidFill>
                  <a:srgbClr val="0F172A"/>
                </a:solidFill>
              </a:rPr>
              <a:t>• infer the indication</a:t>
            </a:r>
          </a:p>
          <a:p xmlns:a="http://schemas.openxmlformats.org/drawingml/2006/main">
            <a:pPr>
              <a:defRPr sz="1200" b="0">
                <a:solidFill>
                  <a:srgbClr val="0F172A"/>
                </a:solidFill>
              </a:defRPr>
            </a:pPr>
            <a:r>
              <a:rPr sz="1200" b="0">
                <a:solidFill>
                  <a:srgbClr val="0F172A"/>
                </a:solidFill>
              </a:rPr>
              <a:t>• prescribe or substitute</a:t>
            </a:r>
          </a:p>
          <a:p xmlns:a="http://schemas.openxmlformats.org/drawingml/2006/main">
            <a:pPr>
              <a:defRPr sz="1200" b="0">
                <a:solidFill>
                  <a:srgbClr val="0F172A"/>
                </a:solidFill>
              </a:defRPr>
            </a:pPr>
            <a:r>
              <a:rPr sz="1200" b="0">
                <a:solidFill>
                  <a:srgbClr val="0F172A"/>
                </a:solidFill>
              </a:rPr>
              <a:t>• assess interactions autonomously</a:t>
            </a:r>
          </a:p>
          <a:p xmlns:a="http://schemas.openxmlformats.org/drawingml/2006/main">
            <a:pPr>
              <a:defRPr sz="1200" b="0">
                <a:solidFill>
                  <a:srgbClr val="0F172A"/>
                </a:solidFill>
              </a:defRPr>
            </a:pPr>
            <a:r>
              <a:rPr sz="1200" b="0">
                <a:solidFill>
                  <a:srgbClr val="0F172A"/>
                </a:solidFill>
              </a:rPr>
              <a:t>• overrule the source prescription</a:t>
            </a:r>
          </a:p>
        </p:txBody>
      </p:sp>
      <p:sp>
        <p:nvSpPr>
          <p:cNvPr id="24" name="">
            <a:extLst xmlns:a="http://schemas.openxmlformats.org/drawingml/2006/main">
              <a:ext uri="{FF2B5EF4-FFF2-40B4-BE49-F238E27FC236}">
                <a16:creationId xmlns:a16="http://schemas.microsoft.com/office/drawing/2014/main" id="{CCF44CF7-8BBF-4533-825E-2CAE8854F3D9}"/>
              </a:ext>
            </a:extLst>
          </p:cNvPr>
          <p:cNvSpPr>
            <a:spLocks xmlns:a="http://schemas.openxmlformats.org/drawingml/2006/main" noGrp="1"/>
          </p:cNvSpPr>
          <p:nvPr/>
        </p:nvSpPr>
        <p:spPr>
          <a:xfrm xmlns:a="http://schemas.openxmlformats.org/drawingml/2006/main">
            <a:off x="9029700" y="50292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C2410C"/>
                </a:solidFill>
              </a:defRPr>
            </a:pPr>
            <a:r>
              <a:rPr sz="1125" b="1">
                <a:solidFill>
                  <a:srgbClr val="C2410C"/>
                </a:solidFill>
              </a:rPr>
              <a:t>Owner: clinician or pharmacist</a:t>
            </a:r>
          </a:p>
        </p:txBody>
      </p:sp>
    </p:spTree>
    <p:extLst>
      <p:ext uri="{BB962C8B-B14F-4D97-AF65-F5344CB8AC3E}">
        <p14:creationId xmlns:p14="http://schemas.microsoft.com/office/powerpoint/2010/main" val="742334246"/>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4B0DD0-9040-4EE3-AAB2-C17684B0DFF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5EC6BA85-26A4-4A46-AA5A-31ED3AB86819}"/>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671E78ED-B74A-40BA-AC9E-003ADCDE60A3}"/>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PILLAR 1</a:t>
            </a:r>
          </a:p>
        </p:txBody>
      </p:sp>
      <p:sp>
        <p:nvSpPr>
          <p:cNvPr id="4" name="slide-title">
            <a:extLst xmlns:a="http://schemas.openxmlformats.org/drawingml/2006/main">
              <a:ext uri="{FF2B5EF4-FFF2-40B4-BE49-F238E27FC236}">
                <a16:creationId xmlns:a16="http://schemas.microsoft.com/office/drawing/2014/main" id="{575BFB39-55C1-444F-B07E-ADADA4CBC313}"/>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From discharge summary to patient action plan</a:t>
            </a:r>
          </a:p>
        </p:txBody>
      </p:sp>
      <p:sp>
        <p:nvSpPr>
          <p:cNvPr id="5" name="slide-subtitle">
            <a:extLst xmlns:a="http://schemas.openxmlformats.org/drawingml/2006/main">
              <a:ext uri="{FF2B5EF4-FFF2-40B4-BE49-F238E27FC236}">
                <a16:creationId xmlns:a16="http://schemas.microsoft.com/office/drawing/2014/main" id="{9424AF9D-FA01-4EE6-8484-56C3231A72B7}"/>
              </a:ext>
            </a:extLst>
          </p:cNvPr>
          <p:cNvSpPr>
            <a:spLocks xmlns:a="http://schemas.openxmlformats.org/drawingml/2006/main" noGrp="1"/>
          </p:cNvSpPr>
          <p:nvPr/>
        </p:nvSpPr>
        <p:spPr>
          <a:xfrm xmlns:a="http://schemas.openxmlformats.org/drawingml/2006/main">
            <a:off x="609600" y="167640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475569"/>
                </a:solidFill>
              </a:defRPr>
            </a:pPr>
            <a:r>
              <a:rPr sz="1350" b="0">
                <a:solidFill>
                  <a:srgbClr val="475569"/>
                </a:solidFill>
              </a:rPr>
              <a:t>Preserve the medicine, date, warning, and follow-up—change only clarity.</a:t>
            </a:r>
          </a:p>
        </p:txBody>
      </p:sp>
      <p:sp>
        <p:nvSpPr>
          <p:cNvPr id="6" name="slide-number">
            <a:extLst xmlns:a="http://schemas.openxmlformats.org/drawingml/2006/main">
              <a:ext uri="{FF2B5EF4-FFF2-40B4-BE49-F238E27FC236}">
                <a16:creationId xmlns:a16="http://schemas.microsoft.com/office/drawing/2014/main" id="{5DCCA83A-035A-4803-A8E9-82BC585EB96C}"/>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05</a:t>
            </a:r>
          </a:p>
        </p:txBody>
      </p:sp>
      <p:sp>
        <p:nvSpPr>
          <p:cNvPr id="7" name="footer-title">
            <a:extLst xmlns:a="http://schemas.openxmlformats.org/drawingml/2006/main">
              <a:ext uri="{FF2B5EF4-FFF2-40B4-BE49-F238E27FC236}">
                <a16:creationId xmlns:a16="http://schemas.microsoft.com/office/drawing/2014/main" id="{2527B019-24F9-4F6C-96FE-DF498E503F32}"/>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sp>
        <p:nvSpPr>
          <p:cNvPr id="8" name="">
            <a:extLst xmlns:a="http://schemas.openxmlformats.org/drawingml/2006/main">
              <a:ext uri="{FF2B5EF4-FFF2-40B4-BE49-F238E27FC236}">
                <a16:creationId xmlns:a16="http://schemas.microsoft.com/office/drawing/2014/main" id="{B70364F8-2986-418B-BDC3-9A305D2BE9AE}"/>
              </a:ext>
            </a:extLst>
          </p:cNvPr>
          <p:cNvSpPr>
            <a:spLocks xmlns:a="http://schemas.openxmlformats.org/drawingml/2006/main" noGrp="1"/>
          </p:cNvSpPr>
          <p:nvPr/>
        </p:nvSpPr>
        <p:spPr>
          <a:xfrm xmlns:a="http://schemas.openxmlformats.org/drawingml/2006/main">
            <a:off x="609600" y="2286000"/>
            <a:ext cx="4476750" cy="323850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83A97FC-FB55-4258-A3EE-6EB920779AE9}"/>
              </a:ext>
            </a:extLst>
          </p:cNvPr>
          <p:cNvSpPr>
            <a:spLocks xmlns:a="http://schemas.openxmlformats.org/drawingml/2006/main" noGrp="1"/>
          </p:cNvSpPr>
          <p:nvPr/>
        </p:nvSpPr>
        <p:spPr>
          <a:xfrm xmlns:a="http://schemas.openxmlformats.org/drawingml/2006/main">
            <a:off x="857250" y="2533650"/>
            <a:ext cx="1504950" cy="304800"/>
          </a:xfrm>
          <a:prstGeom xmlns:a="http://schemas.openxmlformats.org/drawingml/2006/main" prst="roundRect">
            <a:avLst>
              <a:gd name="adj" fmla="val 50000"/>
            </a:avLst>
          </a:prstGeom>
          <a:solidFill xmlns:a="http://schemas.openxmlformats.org/drawingml/2006/main">
            <a:srgbClr val="073647"/>
          </a:solidFill>
          <a:ln xmlns:a="http://schemas.openxmlformats.org/drawingml/2006/main" w="9525">
            <a:solidFill>
              <a:srgbClr val="073647"/>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CLINICIAN SOURCE</a:t>
            </a:r>
          </a:p>
        </p:txBody>
      </p:sp>
      <p:sp>
        <p:nvSpPr>
          <p:cNvPr id="10" name="">
            <a:extLst xmlns:a="http://schemas.openxmlformats.org/drawingml/2006/main">
              <a:ext uri="{FF2B5EF4-FFF2-40B4-BE49-F238E27FC236}">
                <a16:creationId xmlns:a16="http://schemas.microsoft.com/office/drawing/2014/main" id="{A812B18C-A4A5-4A5D-9AC6-801575D22CA3}"/>
              </a:ext>
            </a:extLst>
          </p:cNvPr>
          <p:cNvSpPr>
            <a:spLocks xmlns:a="http://schemas.openxmlformats.org/drawingml/2006/main" noGrp="1"/>
          </p:cNvSpPr>
          <p:nvPr/>
        </p:nvSpPr>
        <p:spPr>
          <a:xfrm xmlns:a="http://schemas.openxmlformats.org/drawingml/2006/main">
            <a:off x="876300" y="3124200"/>
            <a:ext cx="36766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F172A"/>
                </a:solidFill>
              </a:defRPr>
            </a:pPr>
            <a:r>
              <a:rPr sz="1650" b="1">
                <a:solidFill>
                  <a:srgbClr val="0F172A"/>
                </a:solidFill>
              </a:rPr>
              <a:t>“Continue medication as listed. Review as advised. Return if symptoms worsen.”</a:t>
            </a:r>
          </a:p>
        </p:txBody>
      </p:sp>
      <p:sp>
        <p:nvSpPr>
          <p:cNvPr id="11" name="">
            <a:extLst xmlns:a="http://schemas.openxmlformats.org/drawingml/2006/main">
              <a:ext uri="{FF2B5EF4-FFF2-40B4-BE49-F238E27FC236}">
                <a16:creationId xmlns:a16="http://schemas.microsoft.com/office/drawing/2014/main" id="{3423EFD2-69A4-47DE-8ECE-E1DA57009384}"/>
              </a:ext>
            </a:extLst>
          </p:cNvPr>
          <p:cNvSpPr>
            <a:spLocks xmlns:a="http://schemas.openxmlformats.org/drawingml/2006/main" noGrp="1"/>
          </p:cNvSpPr>
          <p:nvPr/>
        </p:nvSpPr>
        <p:spPr>
          <a:xfrm xmlns:a="http://schemas.openxmlformats.org/drawingml/2006/main">
            <a:off x="876300" y="4267200"/>
            <a:ext cx="3676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What is missing for a patient?</a:t>
            </a:r>
          </a:p>
          <a:p xmlns:a="http://schemas.openxmlformats.org/drawingml/2006/main">
            <a:pPr>
              <a:defRPr sz="1200" b="0">
                <a:solidFill>
                  <a:srgbClr val="475569"/>
                </a:solidFill>
              </a:defRPr>
            </a:pPr>
            <a:r>
              <a:rPr sz="1200" b="0">
                <a:solidFill>
                  <a:srgbClr val="475569"/>
                </a:solidFill>
              </a:rPr>
              <a:t>• exact action</a:t>
            </a:r>
          </a:p>
          <a:p xmlns:a="http://schemas.openxmlformats.org/drawingml/2006/main">
            <a:pPr>
              <a:defRPr sz="1200" b="0">
                <a:solidFill>
                  <a:srgbClr val="475569"/>
                </a:solidFill>
              </a:defRPr>
            </a:pPr>
            <a:r>
              <a:rPr sz="1200" b="0">
                <a:solidFill>
                  <a:srgbClr val="475569"/>
                </a:solidFill>
              </a:rPr>
              <a:t>• urgency threshold</a:t>
            </a:r>
          </a:p>
          <a:p xmlns:a="http://schemas.openxmlformats.org/drawingml/2006/main">
            <a:pPr>
              <a:defRPr sz="1200" b="0">
                <a:solidFill>
                  <a:srgbClr val="475569"/>
                </a:solidFill>
              </a:defRPr>
            </a:pPr>
            <a:r>
              <a:rPr sz="1200" b="0">
                <a:solidFill>
                  <a:srgbClr val="475569"/>
                </a:solidFill>
              </a:rPr>
              <a:t>• timing</a:t>
            </a:r>
          </a:p>
          <a:p xmlns:a="http://schemas.openxmlformats.org/drawingml/2006/main">
            <a:pPr>
              <a:defRPr sz="1200" b="0">
                <a:solidFill>
                  <a:srgbClr val="475569"/>
                </a:solidFill>
              </a:defRPr>
            </a:pPr>
            <a:r>
              <a:rPr sz="1200" b="0">
                <a:solidFill>
                  <a:srgbClr val="475569"/>
                </a:solidFill>
              </a:rPr>
              <a:t>• comprehension check</a:t>
            </a:r>
          </a:p>
        </p:txBody>
      </p:sp>
      <p:sp>
        <p:nvSpPr>
          <p:cNvPr id="12" name="">
            <a:extLst xmlns:a="http://schemas.openxmlformats.org/drawingml/2006/main">
              <a:ext uri="{FF2B5EF4-FFF2-40B4-BE49-F238E27FC236}">
                <a16:creationId xmlns:a16="http://schemas.microsoft.com/office/drawing/2014/main" id="{291FF2CA-C375-479A-9859-E90BFDE703CA}"/>
              </a:ext>
            </a:extLst>
          </p:cNvPr>
          <p:cNvSpPr>
            <a:spLocks xmlns:a="http://schemas.openxmlformats.org/drawingml/2006/main" noGrp="1"/>
          </p:cNvSpPr>
          <p:nvPr/>
        </p:nvSpPr>
        <p:spPr>
          <a:xfrm xmlns:a="http://schemas.openxmlformats.org/drawingml/2006/main">
            <a:off x="5353050" y="3448050"/>
            <a:ext cx="876300" cy="685800"/>
          </a:xfrm>
          <a:prstGeom xmlns:a="http://schemas.openxmlformats.org/drawingml/2006/main" prst="rightArrow">
            <a:avLst/>
          </a:prstGeom>
          <a:solidFill xmlns:a="http://schemas.openxmlformats.org/drawingml/2006/main">
            <a:srgbClr val="0F766E"/>
          </a:solidFill>
          <a:ln xmlns:a="http://schemas.openxmlformats.org/drawingml/2006/main" w="9525">
            <a:solidFill>
              <a:srgbClr val="0F766E"/>
            </a:solidFill>
            <a:prstDash val="solid"/>
          </a:ln>
        </p:spPr>
      </p:sp>
      <p:sp>
        <p:nvSpPr>
          <p:cNvPr id="13" name="">
            <a:extLst xmlns:a="http://schemas.openxmlformats.org/drawingml/2006/main">
              <a:ext uri="{FF2B5EF4-FFF2-40B4-BE49-F238E27FC236}">
                <a16:creationId xmlns:a16="http://schemas.microsoft.com/office/drawing/2014/main" id="{DD7B2819-0CB2-4C38-A960-39558B4904E2}"/>
              </a:ext>
            </a:extLst>
          </p:cNvPr>
          <p:cNvSpPr>
            <a:spLocks xmlns:a="http://schemas.openxmlformats.org/drawingml/2006/main" noGrp="1"/>
          </p:cNvSpPr>
          <p:nvPr/>
        </p:nvSpPr>
        <p:spPr>
          <a:xfrm xmlns:a="http://schemas.openxmlformats.org/drawingml/2006/main">
            <a:off x="6515100" y="2286000"/>
            <a:ext cx="5067300" cy="3238500"/>
          </a:xfrm>
          <a:prstGeom xmlns:a="http://schemas.openxmlformats.org/drawingml/2006/main" prst="roundRect">
            <a:avLst>
              <a:gd name="adj" fmla="val 4706"/>
            </a:avLst>
          </a:prstGeom>
          <a:solidFill xmlns:a="http://schemas.openxmlformats.org/drawingml/2006/main">
            <a:srgbClr val="ECFDF5"/>
          </a:solidFill>
          <a:ln xmlns:a="http://schemas.openxmlformats.org/drawingml/2006/main" w="9525">
            <a:solidFill>
              <a:srgbClr val="A7F3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4CDC083-8F16-4835-A3D5-A27A0F88AC17}"/>
              </a:ext>
            </a:extLst>
          </p:cNvPr>
          <p:cNvSpPr>
            <a:spLocks xmlns:a="http://schemas.openxmlformats.org/drawingml/2006/main" noGrp="1"/>
          </p:cNvSpPr>
          <p:nvPr/>
        </p:nvSpPr>
        <p:spPr>
          <a:xfrm xmlns:a="http://schemas.openxmlformats.org/drawingml/2006/main">
            <a:off x="6781800" y="2533650"/>
            <a:ext cx="167640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PATIENT ACTION PLAN</a:t>
            </a:r>
          </a:p>
        </p:txBody>
      </p:sp>
      <p:sp>
        <p:nvSpPr>
          <p:cNvPr id="15" name="">
            <a:extLst xmlns:a="http://schemas.openxmlformats.org/drawingml/2006/main">
              <a:ext uri="{FF2B5EF4-FFF2-40B4-BE49-F238E27FC236}">
                <a16:creationId xmlns:a16="http://schemas.microsoft.com/office/drawing/2014/main" id="{47F096D9-5257-4B45-A1A3-4E866F014A3E}"/>
              </a:ext>
            </a:extLst>
          </p:cNvPr>
          <p:cNvSpPr>
            <a:spLocks xmlns:a="http://schemas.openxmlformats.org/drawingml/2006/main" noGrp="1"/>
          </p:cNvSpPr>
          <p:nvPr/>
        </p:nvSpPr>
        <p:spPr>
          <a:xfrm xmlns:a="http://schemas.openxmlformats.org/drawingml/2006/main">
            <a:off x="6800850" y="3086100"/>
            <a:ext cx="42481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F172A"/>
                </a:solidFill>
              </a:defRPr>
            </a:pPr>
            <a:r>
              <a:rPr sz="1575" b="1">
                <a:solidFill>
                  <a:srgbClr val="0F172A"/>
                </a:solidFill>
              </a:rPr>
              <a:t>1. What happened—in plain words</a:t>
            </a:r>
          </a:p>
          <a:p xmlns:a="http://schemas.openxmlformats.org/drawingml/2006/main">
            <a:pPr>
              <a:defRPr sz="1575" b="1">
                <a:solidFill>
                  <a:srgbClr val="0F172A"/>
                </a:solidFill>
              </a:defRPr>
            </a:pPr>
            <a:r>
              <a:rPr sz="1575" b="1">
                <a:solidFill>
                  <a:srgbClr val="0F172A"/>
                </a:solidFill>
              </a:rPr>
              <a:t>2. Exact medicine/action schedule</a:t>
            </a:r>
          </a:p>
          <a:p xmlns:a="http://schemas.openxmlformats.org/drawingml/2006/main">
            <a:pPr>
              <a:defRPr sz="1575" b="1">
                <a:solidFill>
                  <a:srgbClr val="0F172A"/>
                </a:solidFill>
              </a:defRPr>
            </a:pPr>
            <a:r>
              <a:rPr sz="1575" b="1">
                <a:solidFill>
                  <a:srgbClr val="0F172A"/>
                </a:solidFill>
              </a:rPr>
              <a:t>3. Warning signs and urgent route</a:t>
            </a:r>
          </a:p>
          <a:p xmlns:a="http://schemas.openxmlformats.org/drawingml/2006/main">
            <a:pPr>
              <a:defRPr sz="1575" b="1">
                <a:solidFill>
                  <a:srgbClr val="0F172A"/>
                </a:solidFill>
              </a:defRPr>
            </a:pPr>
            <a:r>
              <a:rPr sz="1575" b="1">
                <a:solidFill>
                  <a:srgbClr val="0F172A"/>
                </a:solidFill>
              </a:rPr>
              <a:t>4. Follow-up: who, when, where</a:t>
            </a:r>
          </a:p>
          <a:p xmlns:a="http://schemas.openxmlformats.org/drawingml/2006/main">
            <a:pPr>
              <a:defRPr sz="1575" b="1">
                <a:solidFill>
                  <a:srgbClr val="0F172A"/>
                </a:solidFill>
              </a:defRPr>
            </a:pPr>
            <a:r>
              <a:rPr sz="1575" b="1">
                <a:solidFill>
                  <a:srgbClr val="0F172A"/>
                </a:solidFill>
              </a:rPr>
              <a:t>5. Three teach-back questions</a:t>
            </a:r>
          </a:p>
        </p:txBody>
      </p:sp>
      <p:sp>
        <p:nvSpPr>
          <p:cNvPr id="16" name="">
            <a:extLst xmlns:a="http://schemas.openxmlformats.org/drawingml/2006/main">
              <a:ext uri="{FF2B5EF4-FFF2-40B4-BE49-F238E27FC236}">
                <a16:creationId xmlns:a16="http://schemas.microsoft.com/office/drawing/2014/main" id="{04CEB8D0-AA6E-4F3A-94AF-1557309694A7}"/>
              </a:ext>
            </a:extLst>
          </p:cNvPr>
          <p:cNvSpPr>
            <a:spLocks xmlns:a="http://schemas.openxmlformats.org/drawingml/2006/main" noGrp="1"/>
          </p:cNvSpPr>
          <p:nvPr/>
        </p:nvSpPr>
        <p:spPr>
          <a:xfrm xmlns:a="http://schemas.openxmlformats.org/drawingml/2006/main">
            <a:off x="6800850" y="5010150"/>
            <a:ext cx="424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F766E"/>
                </a:solidFill>
              </a:defRPr>
            </a:pPr>
            <a:r>
              <a:rPr sz="1125" b="1">
                <a:solidFill>
                  <a:srgbClr val="0F766E"/>
                </a:solidFill>
              </a:rPr>
              <a:t>Bilingual drafts require fluent clinical review.</a:t>
            </a:r>
          </a:p>
        </p:txBody>
      </p:sp>
    </p:spTree>
    <p:extLst>
      <p:ext uri="{BB962C8B-B14F-4D97-AF65-F5344CB8AC3E}">
        <p14:creationId xmlns:p14="http://schemas.microsoft.com/office/powerpoint/2010/main" val="614368901"/>
      </p:ext>
    </p:extLst>
  </p:cSld>
</p:sld>
</file>

<file path=ppt/slides/slide6.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66D118-24CE-4CC3-B1E5-1440BC62728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53638A39-1C84-46D9-B6F4-6B69F834562A}"/>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F9EF4501-1E7E-45B1-8DD5-818470EBF891}"/>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PILLAR 2</a:t>
            </a:r>
          </a:p>
        </p:txBody>
      </p:sp>
      <p:sp>
        <p:nvSpPr>
          <p:cNvPr id="4" name="slide-title">
            <a:extLst xmlns:a="http://schemas.openxmlformats.org/drawingml/2006/main">
              <a:ext uri="{FF2B5EF4-FFF2-40B4-BE49-F238E27FC236}">
                <a16:creationId xmlns:a16="http://schemas.microsoft.com/office/drawing/2014/main" id="{5B2CDA1E-9CCB-4718-B8A6-AB6BA00B9B62}"/>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Medical images: demonstrate the boundary, not a diagnosis</a:t>
            </a:r>
          </a:p>
        </p:txBody>
      </p:sp>
      <p:sp>
        <p:nvSpPr>
          <p:cNvPr id="5" name="slide-subtitle">
            <a:extLst xmlns:a="http://schemas.openxmlformats.org/drawingml/2006/main">
              <a:ext uri="{FF2B5EF4-FFF2-40B4-BE49-F238E27FC236}">
                <a16:creationId xmlns:a16="http://schemas.microsoft.com/office/drawing/2014/main" id="{9331B167-CE1C-4280-B92E-A243F0D05634}"/>
              </a:ext>
            </a:extLst>
          </p:cNvPr>
          <p:cNvSpPr>
            <a:spLocks xmlns:a="http://schemas.openxmlformats.org/drawingml/2006/main" noGrp="1"/>
          </p:cNvSpPr>
          <p:nvPr/>
        </p:nvSpPr>
        <p:spPr>
          <a:xfrm xmlns:a="http://schemas.openxmlformats.org/drawingml/2006/main">
            <a:off x="609600" y="167640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475569"/>
                </a:solidFill>
              </a:defRPr>
            </a:pPr>
            <a:r>
              <a:rPr sz="1350" b="0">
                <a:solidFill>
                  <a:srgbClr val="475569"/>
                </a:solidFill>
              </a:rPr>
              <a:t>General-purpose image models are not a substitute for qualified interpretation or validated medical-device workflows.</a:t>
            </a:r>
          </a:p>
        </p:txBody>
      </p:sp>
      <p:sp>
        <p:nvSpPr>
          <p:cNvPr id="6" name="slide-number">
            <a:extLst xmlns:a="http://schemas.openxmlformats.org/drawingml/2006/main">
              <a:ext uri="{FF2B5EF4-FFF2-40B4-BE49-F238E27FC236}">
                <a16:creationId xmlns:a16="http://schemas.microsoft.com/office/drawing/2014/main" id="{18A0525E-D629-4718-A5CA-A44D466939D5}"/>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06</a:t>
            </a:r>
          </a:p>
        </p:txBody>
      </p:sp>
      <p:sp>
        <p:nvSpPr>
          <p:cNvPr id="7" name="footer-title">
            <a:extLst xmlns:a="http://schemas.openxmlformats.org/drawingml/2006/main">
              <a:ext uri="{FF2B5EF4-FFF2-40B4-BE49-F238E27FC236}">
                <a16:creationId xmlns:a16="http://schemas.microsoft.com/office/drawing/2014/main" id="{CDD8DDEA-A616-4E60-993A-C361625BEF60}"/>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f8813e10f43430f"/>
          <a:stretch xmlns:a="http://schemas.openxmlformats.org/drawingml/2006/main"/>
        </p:blipFill>
        <p:spPr>
          <a:xfrm xmlns:a="http://schemas.openxmlformats.org/drawingml/2006/main">
            <a:off x="1555524" y="2266950"/>
            <a:ext cx="2356303" cy="3695700"/>
          </a:xfrm>
          <a:prstGeom xmlns:a="http://schemas.openxmlformats.org/drawingml/2006/main" prst="roundRect">
            <a:avLst>
              <a:gd name="adj" fmla="val 4124"/>
            </a:avLst>
          </a:prstGeom>
        </p:spPr>
      </p:pic>
      <p:sp>
        <p:nvSpPr>
          <p:cNvPr id="9" name="">
            <a:extLst xmlns:a="http://schemas.openxmlformats.org/drawingml/2006/main">
              <a:ext uri="{FF2B5EF4-FFF2-40B4-BE49-F238E27FC236}">
                <a16:creationId xmlns:a16="http://schemas.microsoft.com/office/drawing/2014/main" id="{B0B1B378-EBF7-4421-84F5-E09925B6F733}"/>
              </a:ext>
            </a:extLst>
          </p:cNvPr>
          <p:cNvSpPr>
            <a:spLocks xmlns:a="http://schemas.openxmlformats.org/drawingml/2006/main" noGrp="1"/>
          </p:cNvSpPr>
          <p:nvPr/>
        </p:nvSpPr>
        <p:spPr>
          <a:xfrm xmlns:a="http://schemas.openxmlformats.org/drawingml/2006/main">
            <a:off x="838200" y="2419350"/>
            <a:ext cx="2686050" cy="30480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FULLY SYNTHETIC • NO GROUND TRUTH</a:t>
            </a:r>
          </a:p>
        </p:txBody>
      </p:sp>
      <p:sp>
        <p:nvSpPr>
          <p:cNvPr id="10" name="">
            <a:extLst xmlns:a="http://schemas.openxmlformats.org/drawingml/2006/main">
              <a:ext uri="{FF2B5EF4-FFF2-40B4-BE49-F238E27FC236}">
                <a16:creationId xmlns:a16="http://schemas.microsoft.com/office/drawing/2014/main" id="{B7B5D610-F9FC-4009-93C2-D38F524DF6EB}"/>
              </a:ext>
            </a:extLst>
          </p:cNvPr>
          <p:cNvSpPr>
            <a:spLocks xmlns:a="http://schemas.openxmlformats.org/drawingml/2006/main" noGrp="1"/>
          </p:cNvSpPr>
          <p:nvPr/>
        </p:nvSpPr>
        <p:spPr>
          <a:xfrm xmlns:a="http://schemas.openxmlformats.org/drawingml/2006/main">
            <a:off x="5219700" y="2266950"/>
            <a:ext cx="2895600" cy="3352800"/>
          </a:xfrm>
          <a:prstGeom xmlns:a="http://schemas.openxmlformats.org/drawingml/2006/main" prst="roundRect">
            <a:avLst>
              <a:gd name="adj" fmla="val 5263"/>
            </a:avLst>
          </a:prstGeom>
          <a:solidFill xmlns:a="http://schemas.openxmlformats.org/drawingml/2006/main">
            <a:srgbClr val="ECFDF5"/>
          </a:solidFill>
          <a:ln xmlns:a="http://schemas.openxmlformats.org/drawingml/2006/main" w="9525">
            <a:solidFill>
              <a:srgbClr val="A7F3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8544774-80A5-481B-911C-1901683B9486}"/>
              </a:ext>
            </a:extLst>
          </p:cNvPr>
          <p:cNvSpPr>
            <a:spLocks xmlns:a="http://schemas.openxmlformats.org/drawingml/2006/main" noGrp="1"/>
          </p:cNvSpPr>
          <p:nvPr/>
        </p:nvSpPr>
        <p:spPr>
          <a:xfrm xmlns:a="http://schemas.openxmlformats.org/drawingml/2006/main">
            <a:off x="5467350" y="25336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F766E"/>
                </a:solidFill>
              </a:defRPr>
            </a:pPr>
            <a:r>
              <a:rPr sz="1575" b="1">
                <a:solidFill>
                  <a:srgbClr val="0F766E"/>
                </a:solidFill>
              </a:rPr>
              <a:t>Practise</a:t>
            </a:r>
          </a:p>
        </p:txBody>
      </p:sp>
      <p:sp>
        <p:nvSpPr>
          <p:cNvPr id="12" name="">
            <a:extLst xmlns:a="http://schemas.openxmlformats.org/drawingml/2006/main">
              <a:ext uri="{FF2B5EF4-FFF2-40B4-BE49-F238E27FC236}">
                <a16:creationId xmlns:a16="http://schemas.microsoft.com/office/drawing/2014/main" id="{C502C3CB-9185-4388-9C13-EAB0C2961CDA}"/>
              </a:ext>
            </a:extLst>
          </p:cNvPr>
          <p:cNvSpPr>
            <a:spLocks xmlns:a="http://schemas.openxmlformats.org/drawingml/2006/main" noGrp="1"/>
          </p:cNvSpPr>
          <p:nvPr/>
        </p:nvSpPr>
        <p:spPr>
          <a:xfrm xmlns:a="http://schemas.openxmlformats.org/drawingml/2006/main">
            <a:off x="5467350" y="3067050"/>
            <a:ext cx="2190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0F172A"/>
                </a:solidFill>
              </a:defRPr>
            </a:pPr>
            <a:r>
              <a:rPr sz="1350" b="0">
                <a:solidFill>
                  <a:srgbClr val="0F172A"/>
                </a:solidFill>
              </a:rPr>
              <a:t>✓ image adequacy</a:t>
            </a:r>
          </a:p>
          <a:p xmlns:a="http://schemas.openxmlformats.org/drawingml/2006/main">
            <a:pPr>
              <a:defRPr sz="1350" b="0">
                <a:solidFill>
                  <a:srgbClr val="0F172A"/>
                </a:solidFill>
              </a:defRPr>
            </a:pPr>
            <a:r>
              <a:rPr sz="1350" b="0">
                <a:solidFill>
                  <a:srgbClr val="0F172A"/>
                </a:solidFill>
              </a:rPr>
              <a:t>✓ neutral visible observations</a:t>
            </a:r>
          </a:p>
          <a:p xmlns:a="http://schemas.openxmlformats.org/drawingml/2006/main">
            <a:pPr>
              <a:defRPr sz="1350" b="0">
                <a:solidFill>
                  <a:srgbClr val="0F172A"/>
                </a:solidFill>
              </a:defRPr>
            </a:pPr>
            <a:r>
              <a:rPr sz="1350" b="0">
                <a:solidFill>
                  <a:srgbClr val="0F172A"/>
                </a:solidFill>
              </a:rPr>
              <a:t>✓ cannot-assess items</a:t>
            </a:r>
          </a:p>
          <a:p xmlns:a="http://schemas.openxmlformats.org/drawingml/2006/main">
            <a:pPr>
              <a:defRPr sz="1350" b="0">
                <a:solidFill>
                  <a:srgbClr val="0F172A"/>
                </a:solidFill>
              </a:defRPr>
            </a:pPr>
            <a:r>
              <a:rPr sz="1350" b="0">
                <a:solidFill>
                  <a:srgbClr val="0F172A"/>
                </a:solidFill>
              </a:rPr>
              <a:t>✓ uncertainty</a:t>
            </a:r>
          </a:p>
          <a:p xmlns:a="http://schemas.openxmlformats.org/drawingml/2006/main">
            <a:pPr>
              <a:defRPr sz="1350" b="0">
                <a:solidFill>
                  <a:srgbClr val="0F172A"/>
                </a:solidFill>
              </a:defRPr>
            </a:pPr>
            <a:r>
              <a:rPr sz="1350" b="0">
                <a:solidFill>
                  <a:srgbClr val="0F172A"/>
                </a:solidFill>
              </a:rPr>
              <a:t>✓ human escalation</a:t>
            </a:r>
          </a:p>
        </p:txBody>
      </p:sp>
      <p:sp>
        <p:nvSpPr>
          <p:cNvPr id="13" name="">
            <a:extLst xmlns:a="http://schemas.openxmlformats.org/drawingml/2006/main">
              <a:ext uri="{FF2B5EF4-FFF2-40B4-BE49-F238E27FC236}">
                <a16:creationId xmlns:a16="http://schemas.microsoft.com/office/drawing/2014/main" id="{2E58E693-8174-4780-ABCD-78396E571E11}"/>
              </a:ext>
            </a:extLst>
          </p:cNvPr>
          <p:cNvSpPr>
            <a:spLocks xmlns:a="http://schemas.openxmlformats.org/drawingml/2006/main" noGrp="1"/>
          </p:cNvSpPr>
          <p:nvPr/>
        </p:nvSpPr>
        <p:spPr>
          <a:xfrm xmlns:a="http://schemas.openxmlformats.org/drawingml/2006/main">
            <a:off x="8420100" y="2266950"/>
            <a:ext cx="3162300" cy="3352800"/>
          </a:xfrm>
          <a:prstGeom xmlns:a="http://schemas.openxmlformats.org/drawingml/2006/main" prst="roundRect">
            <a:avLst>
              <a:gd name="adj" fmla="val 4819"/>
            </a:avLst>
          </a:prstGeom>
          <a:solidFill xmlns:a="http://schemas.openxmlformats.org/drawingml/2006/main">
            <a:srgbClr val="FFF1F2"/>
          </a:solidFill>
          <a:ln xmlns:a="http://schemas.openxmlformats.org/drawingml/2006/main" w="9525">
            <a:solidFill>
              <a:srgbClr val="FECDD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422AA090-5EDD-451B-AA65-8309D3ACB23D}"/>
              </a:ext>
            </a:extLst>
          </p:cNvPr>
          <p:cNvSpPr>
            <a:spLocks xmlns:a="http://schemas.openxmlformats.org/drawingml/2006/main" noGrp="1"/>
          </p:cNvSpPr>
          <p:nvPr/>
        </p:nvSpPr>
        <p:spPr>
          <a:xfrm xmlns:a="http://schemas.openxmlformats.org/drawingml/2006/main">
            <a:off x="8667750" y="25336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9F1239"/>
                </a:solidFill>
              </a:defRPr>
            </a:pPr>
            <a:r>
              <a:rPr sz="1575" b="1">
                <a:solidFill>
                  <a:srgbClr val="9F1239"/>
                </a:solidFill>
              </a:rPr>
              <a:t>Do not claim</a:t>
            </a:r>
          </a:p>
        </p:txBody>
      </p:sp>
      <p:sp>
        <p:nvSpPr>
          <p:cNvPr id="15" name="">
            <a:extLst xmlns:a="http://schemas.openxmlformats.org/drawingml/2006/main">
              <a:ext uri="{FF2B5EF4-FFF2-40B4-BE49-F238E27FC236}">
                <a16:creationId xmlns:a16="http://schemas.microsoft.com/office/drawing/2014/main" id="{30E81860-B5A1-4D1F-A2E0-BDBF81F835F6}"/>
              </a:ext>
            </a:extLst>
          </p:cNvPr>
          <p:cNvSpPr>
            <a:spLocks xmlns:a="http://schemas.openxmlformats.org/drawingml/2006/main" noGrp="1"/>
          </p:cNvSpPr>
          <p:nvPr/>
        </p:nvSpPr>
        <p:spPr>
          <a:xfrm xmlns:a="http://schemas.openxmlformats.org/drawingml/2006/main">
            <a:off x="8667750" y="30670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0F172A"/>
                </a:solidFill>
              </a:defRPr>
            </a:pPr>
            <a:r>
              <a:rPr sz="1350" b="0">
                <a:solidFill>
                  <a:srgbClr val="0F172A"/>
                </a:solidFill>
              </a:rPr>
              <a:t>✕ diagnosis</a:t>
            </a:r>
          </a:p>
          <a:p xmlns:a="http://schemas.openxmlformats.org/drawingml/2006/main">
            <a:pPr>
              <a:defRPr sz="1350" b="0">
                <a:solidFill>
                  <a:srgbClr val="0F172A"/>
                </a:solidFill>
              </a:defRPr>
            </a:pPr>
            <a:r>
              <a:rPr sz="1350" b="0">
                <a:solidFill>
                  <a:srgbClr val="0F172A"/>
                </a:solidFill>
              </a:rPr>
              <a:t>✕ emergency clearance</a:t>
            </a:r>
          </a:p>
          <a:p xmlns:a="http://schemas.openxmlformats.org/drawingml/2006/main">
            <a:pPr>
              <a:defRPr sz="1350" b="0">
                <a:solidFill>
                  <a:srgbClr val="0F172A"/>
                </a:solidFill>
              </a:defRPr>
            </a:pPr>
            <a:r>
              <a:rPr sz="1350" b="0">
                <a:solidFill>
                  <a:srgbClr val="0F172A"/>
                </a:solidFill>
              </a:rPr>
              <a:t>✕ treatment advice</a:t>
            </a:r>
          </a:p>
          <a:p xmlns:a="http://schemas.openxmlformats.org/drawingml/2006/main">
            <a:pPr>
              <a:defRPr sz="1350" b="0">
                <a:solidFill>
                  <a:srgbClr val="0F172A"/>
                </a:solidFill>
              </a:defRPr>
            </a:pPr>
            <a:r>
              <a:rPr sz="1350" b="0">
                <a:solidFill>
                  <a:srgbClr val="0F172A"/>
                </a:solidFill>
              </a:rPr>
              <a:t>✕ “normal” or “safe” verdict</a:t>
            </a:r>
          </a:p>
          <a:p xmlns:a="http://schemas.openxmlformats.org/drawingml/2006/main">
            <a:pPr>
              <a:defRPr sz="1350" b="0">
                <a:solidFill>
                  <a:srgbClr val="0F172A"/>
                </a:solidFill>
              </a:defRPr>
            </a:pPr>
            <a:r>
              <a:rPr sz="1350" b="0">
                <a:solidFill>
                  <a:srgbClr val="0F172A"/>
                </a:solidFill>
              </a:rPr>
              <a:t>✕ validated performance</a:t>
            </a:r>
          </a:p>
        </p:txBody>
      </p:sp>
    </p:spTree>
    <p:extLst>
      <p:ext uri="{BB962C8B-B14F-4D97-AF65-F5344CB8AC3E}">
        <p14:creationId xmlns:p14="http://schemas.microsoft.com/office/powerpoint/2010/main" val="884420215"/>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DC7B8C-4E75-4FE7-9272-06EB61FCDFD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9B43236A-12E8-41EA-8DD1-2215EE9778B5}"/>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FDAABB9F-E24A-4AB6-BF90-42A7A8CF6A8B}"/>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PILLAR 2</a:t>
            </a:r>
          </a:p>
        </p:txBody>
      </p:sp>
      <p:sp>
        <p:nvSpPr>
          <p:cNvPr id="4" name="slide-title">
            <a:extLst xmlns:a="http://schemas.openxmlformats.org/drawingml/2006/main">
              <a:ext uri="{FF2B5EF4-FFF2-40B4-BE49-F238E27FC236}">
                <a16:creationId xmlns:a16="http://schemas.microsoft.com/office/drawing/2014/main" id="{D14778D0-6F82-46F4-99FE-A9C43C822E8D}"/>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Clinical reasoning: use AI to reduce omission, not own the decision</a:t>
            </a:r>
          </a:p>
        </p:txBody>
      </p:sp>
      <p:sp>
        <p:nvSpPr>
          <p:cNvPr id="5" name="slide-number">
            <a:extLst xmlns:a="http://schemas.openxmlformats.org/drawingml/2006/main">
              <a:ext uri="{FF2B5EF4-FFF2-40B4-BE49-F238E27FC236}">
                <a16:creationId xmlns:a16="http://schemas.microsoft.com/office/drawing/2014/main" id="{64386167-91AD-4F7E-92AB-88164B2EC634}"/>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07</a:t>
            </a:r>
          </a:p>
        </p:txBody>
      </p:sp>
      <p:sp>
        <p:nvSpPr>
          <p:cNvPr id="6" name="footer-title">
            <a:extLst xmlns:a="http://schemas.openxmlformats.org/drawingml/2006/main">
              <a:ext uri="{FF2B5EF4-FFF2-40B4-BE49-F238E27FC236}">
                <a16:creationId xmlns:a16="http://schemas.microsoft.com/office/drawing/2014/main" id="{244AFD72-6D7E-4F88-9F68-B60B35631A6F}"/>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sp>
        <p:nvSpPr>
          <p:cNvPr id="7" name="">
            <a:extLst xmlns:a="http://schemas.openxmlformats.org/drawingml/2006/main">
              <a:ext uri="{FF2B5EF4-FFF2-40B4-BE49-F238E27FC236}">
                <a16:creationId xmlns:a16="http://schemas.microsoft.com/office/drawing/2014/main" id="{C96FCF98-E8E7-439D-9972-23578D606346}"/>
              </a:ext>
            </a:extLst>
          </p:cNvPr>
          <p:cNvSpPr>
            <a:spLocks xmlns:a="http://schemas.openxmlformats.org/drawingml/2006/main" noGrp="1"/>
          </p:cNvSpPr>
          <p:nvPr/>
        </p:nvSpPr>
        <p:spPr>
          <a:xfrm xmlns:a="http://schemas.openxmlformats.org/drawingml/2006/main">
            <a:off x="609600" y="2190750"/>
            <a:ext cx="5143500" cy="1409700"/>
          </a:xfrm>
          <a:prstGeom xmlns:a="http://schemas.openxmlformats.org/drawingml/2006/main" prst="roundRect">
            <a:avLst>
              <a:gd name="adj" fmla="val 10811"/>
            </a:avLst>
          </a:prstGeom>
          <a:solidFill xmlns:a="http://schemas.openxmlformats.org/drawingml/2006/main">
            <a:srgbClr val="EFF6FF"/>
          </a:solidFill>
          <a:ln xmlns:a="http://schemas.openxmlformats.org/drawingml/2006/main" w="9525">
            <a:solidFill>
              <a:srgbClr val="0891B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BBFD5A1A-78AD-462C-BD86-E05947902417}"/>
              </a:ext>
            </a:extLst>
          </p:cNvPr>
          <p:cNvSpPr>
            <a:spLocks xmlns:a="http://schemas.openxmlformats.org/drawingml/2006/main" noGrp="1"/>
          </p:cNvSpPr>
          <p:nvPr/>
        </p:nvSpPr>
        <p:spPr>
          <a:xfrm xmlns:a="http://schemas.openxmlformats.org/drawingml/2006/main">
            <a:off x="838200" y="2400300"/>
            <a:ext cx="104775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COMMON</a:t>
            </a:r>
          </a:p>
        </p:txBody>
      </p:sp>
      <p:sp>
        <p:nvSpPr>
          <p:cNvPr id="9" name="">
            <a:extLst xmlns:a="http://schemas.openxmlformats.org/drawingml/2006/main">
              <a:ext uri="{FF2B5EF4-FFF2-40B4-BE49-F238E27FC236}">
                <a16:creationId xmlns:a16="http://schemas.microsoft.com/office/drawing/2014/main" id="{8BD7B77E-64F1-4DDB-95AA-798C014D45B6}"/>
              </a:ext>
            </a:extLst>
          </p:cNvPr>
          <p:cNvSpPr>
            <a:spLocks xmlns:a="http://schemas.openxmlformats.org/drawingml/2006/main" noGrp="1"/>
          </p:cNvSpPr>
          <p:nvPr/>
        </p:nvSpPr>
        <p:spPr>
          <a:xfrm xmlns:a="http://schemas.openxmlformats.org/drawingml/2006/main">
            <a:off x="2076450" y="236220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73647"/>
                </a:solidFill>
              </a:defRPr>
            </a:pPr>
            <a:r>
              <a:rPr sz="1500" b="1">
                <a:solidFill>
                  <a:srgbClr val="073647"/>
                </a:solidFill>
              </a:rPr>
              <a:t>Common / likely</a:t>
            </a:r>
          </a:p>
        </p:txBody>
      </p:sp>
      <p:sp>
        <p:nvSpPr>
          <p:cNvPr id="10" name="">
            <a:extLst xmlns:a="http://schemas.openxmlformats.org/drawingml/2006/main">
              <a:ext uri="{FF2B5EF4-FFF2-40B4-BE49-F238E27FC236}">
                <a16:creationId xmlns:a16="http://schemas.microsoft.com/office/drawing/2014/main" id="{D877A5CF-E147-4F62-8018-EC4E2C73CC03}"/>
              </a:ext>
            </a:extLst>
          </p:cNvPr>
          <p:cNvSpPr>
            <a:spLocks xmlns:a="http://schemas.openxmlformats.org/drawingml/2006/main" noGrp="1"/>
          </p:cNvSpPr>
          <p:nvPr/>
        </p:nvSpPr>
        <p:spPr>
          <a:xfrm xmlns:a="http://schemas.openxmlformats.org/drawingml/2006/main">
            <a:off x="2076450" y="280035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Keep prevalence and presentation in view.</a:t>
            </a:r>
          </a:p>
        </p:txBody>
      </p:sp>
      <p:sp>
        <p:nvSpPr>
          <p:cNvPr id="11" name="">
            <a:extLst xmlns:a="http://schemas.openxmlformats.org/drawingml/2006/main">
              <a:ext uri="{FF2B5EF4-FFF2-40B4-BE49-F238E27FC236}">
                <a16:creationId xmlns:a16="http://schemas.microsoft.com/office/drawing/2014/main" id="{4FE8C209-75CD-4E03-8EDF-281E2941716C}"/>
              </a:ext>
            </a:extLst>
          </p:cNvPr>
          <p:cNvSpPr>
            <a:spLocks xmlns:a="http://schemas.openxmlformats.org/drawingml/2006/main" noGrp="1"/>
          </p:cNvSpPr>
          <p:nvPr/>
        </p:nvSpPr>
        <p:spPr>
          <a:xfrm xmlns:a="http://schemas.openxmlformats.org/drawingml/2006/main">
            <a:off x="6076950" y="2190750"/>
            <a:ext cx="5143500" cy="1409700"/>
          </a:xfrm>
          <a:prstGeom xmlns:a="http://schemas.openxmlformats.org/drawingml/2006/main" prst="roundRect">
            <a:avLst>
              <a:gd name="adj" fmla="val 10811"/>
            </a:avLst>
          </a:prstGeom>
          <a:solidFill xmlns:a="http://schemas.openxmlformats.org/drawingml/2006/main">
            <a:srgbClr val="FFF1F2"/>
          </a:solidFill>
          <a:ln xmlns:a="http://schemas.openxmlformats.org/drawingml/2006/main" w="9525">
            <a:solidFill>
              <a:srgbClr val="BE123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6BE8C0B-EB5F-49AB-B869-5AF4E53BAE4D}"/>
              </a:ext>
            </a:extLst>
          </p:cNvPr>
          <p:cNvSpPr>
            <a:spLocks xmlns:a="http://schemas.openxmlformats.org/drawingml/2006/main" noGrp="1"/>
          </p:cNvSpPr>
          <p:nvPr/>
        </p:nvSpPr>
        <p:spPr>
          <a:xfrm xmlns:a="http://schemas.openxmlformats.org/drawingml/2006/main">
            <a:off x="6305550" y="2400300"/>
            <a:ext cx="1047750" cy="304800"/>
          </a:xfrm>
          <a:prstGeom xmlns:a="http://schemas.openxmlformats.org/drawingml/2006/main" prst="roundRect">
            <a:avLst>
              <a:gd name="adj" fmla="val 50000"/>
            </a:avLst>
          </a:prstGeom>
          <a:solidFill xmlns:a="http://schemas.openxmlformats.org/drawingml/2006/main">
            <a:srgbClr val="BE123C"/>
          </a:solidFill>
          <a:ln xmlns:a="http://schemas.openxmlformats.org/drawingml/2006/main" w="9525">
            <a:solidFill>
              <a:srgbClr val="BE123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CAN'T MISS</a:t>
            </a:r>
          </a:p>
        </p:txBody>
      </p:sp>
      <p:sp>
        <p:nvSpPr>
          <p:cNvPr id="13" name="">
            <a:extLst xmlns:a="http://schemas.openxmlformats.org/drawingml/2006/main">
              <a:ext uri="{FF2B5EF4-FFF2-40B4-BE49-F238E27FC236}">
                <a16:creationId xmlns:a16="http://schemas.microsoft.com/office/drawing/2014/main" id="{D9F832E1-FDB1-49A2-8736-A00E4A4FE5D1}"/>
              </a:ext>
            </a:extLst>
          </p:cNvPr>
          <p:cNvSpPr>
            <a:spLocks xmlns:a="http://schemas.openxmlformats.org/drawingml/2006/main" noGrp="1"/>
          </p:cNvSpPr>
          <p:nvPr/>
        </p:nvSpPr>
        <p:spPr>
          <a:xfrm xmlns:a="http://schemas.openxmlformats.org/drawingml/2006/main">
            <a:off x="7543800" y="236220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73647"/>
                </a:solidFill>
              </a:defRPr>
            </a:pPr>
            <a:r>
              <a:rPr sz="1500" b="1">
                <a:solidFill>
                  <a:srgbClr val="073647"/>
                </a:solidFill>
              </a:rPr>
              <a:t>Cannot-miss</a:t>
            </a:r>
          </a:p>
        </p:txBody>
      </p:sp>
      <p:sp>
        <p:nvSpPr>
          <p:cNvPr id="14" name="">
            <a:extLst xmlns:a="http://schemas.openxmlformats.org/drawingml/2006/main">
              <a:ext uri="{FF2B5EF4-FFF2-40B4-BE49-F238E27FC236}">
                <a16:creationId xmlns:a16="http://schemas.microsoft.com/office/drawing/2014/main" id="{E5AA83A6-0672-4207-937C-5E3F851E7BF6}"/>
              </a:ext>
            </a:extLst>
          </p:cNvPr>
          <p:cNvSpPr>
            <a:spLocks xmlns:a="http://schemas.openxmlformats.org/drawingml/2006/main" noGrp="1"/>
          </p:cNvSpPr>
          <p:nvPr/>
        </p:nvSpPr>
        <p:spPr>
          <a:xfrm xmlns:a="http://schemas.openxmlformats.org/drawingml/2006/main">
            <a:off x="7543800" y="280035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Separate severity from probability.</a:t>
            </a:r>
          </a:p>
        </p:txBody>
      </p:sp>
      <p:sp>
        <p:nvSpPr>
          <p:cNvPr id="15" name="">
            <a:extLst xmlns:a="http://schemas.openxmlformats.org/drawingml/2006/main">
              <a:ext uri="{FF2B5EF4-FFF2-40B4-BE49-F238E27FC236}">
                <a16:creationId xmlns:a16="http://schemas.microsoft.com/office/drawing/2014/main" id="{241A4241-5677-4361-BAC6-8379B9E98569}"/>
              </a:ext>
            </a:extLst>
          </p:cNvPr>
          <p:cNvSpPr>
            <a:spLocks xmlns:a="http://schemas.openxmlformats.org/drawingml/2006/main" noGrp="1"/>
          </p:cNvSpPr>
          <p:nvPr/>
        </p:nvSpPr>
        <p:spPr>
          <a:xfrm xmlns:a="http://schemas.openxmlformats.org/drawingml/2006/main">
            <a:off x="609600" y="3867150"/>
            <a:ext cx="5143500" cy="1409700"/>
          </a:xfrm>
          <a:prstGeom xmlns:a="http://schemas.openxmlformats.org/drawingml/2006/main" prst="roundRect">
            <a:avLst>
              <a:gd name="adj" fmla="val 10811"/>
            </a:avLst>
          </a:prstGeom>
          <a:solidFill xmlns:a="http://schemas.openxmlformats.org/drawingml/2006/main">
            <a:srgbClr val="FFF7ED"/>
          </a:solidFill>
          <a:ln xmlns:a="http://schemas.openxmlformats.org/drawingml/2006/main" w="9525">
            <a:solidFill>
              <a:srgbClr val="C2410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5EE61815-F3B8-45D2-96B9-6E0C5EA006CD}"/>
              </a:ext>
            </a:extLst>
          </p:cNvPr>
          <p:cNvSpPr>
            <a:spLocks xmlns:a="http://schemas.openxmlformats.org/drawingml/2006/main" noGrp="1"/>
          </p:cNvSpPr>
          <p:nvPr/>
        </p:nvSpPr>
        <p:spPr>
          <a:xfrm xmlns:a="http://schemas.openxmlformats.org/drawingml/2006/main">
            <a:off x="838200" y="4076700"/>
            <a:ext cx="1047750" cy="30480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MISSING</a:t>
            </a:r>
          </a:p>
        </p:txBody>
      </p:sp>
      <p:sp>
        <p:nvSpPr>
          <p:cNvPr id="17" name="">
            <a:extLst xmlns:a="http://schemas.openxmlformats.org/drawingml/2006/main">
              <a:ext uri="{FF2B5EF4-FFF2-40B4-BE49-F238E27FC236}">
                <a16:creationId xmlns:a16="http://schemas.microsoft.com/office/drawing/2014/main" id="{0F446DA8-519F-49F1-A221-BCDE656C4727}"/>
              </a:ext>
            </a:extLst>
          </p:cNvPr>
          <p:cNvSpPr>
            <a:spLocks xmlns:a="http://schemas.openxmlformats.org/drawingml/2006/main" noGrp="1"/>
          </p:cNvSpPr>
          <p:nvPr/>
        </p:nvSpPr>
        <p:spPr>
          <a:xfrm xmlns:a="http://schemas.openxmlformats.org/drawingml/2006/main">
            <a:off x="2076450" y="403860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73647"/>
                </a:solidFill>
              </a:defRPr>
            </a:pPr>
            <a:r>
              <a:rPr sz="1500" b="1">
                <a:solidFill>
                  <a:srgbClr val="073647"/>
                </a:solidFill>
              </a:rPr>
              <a:t>History / exam gaps</a:t>
            </a:r>
          </a:p>
        </p:txBody>
      </p:sp>
      <p:sp>
        <p:nvSpPr>
          <p:cNvPr id="18" name="">
            <a:extLst xmlns:a="http://schemas.openxmlformats.org/drawingml/2006/main">
              <a:ext uri="{FF2B5EF4-FFF2-40B4-BE49-F238E27FC236}">
                <a16:creationId xmlns:a16="http://schemas.microsoft.com/office/drawing/2014/main" id="{10B07DDF-84FA-454C-9FCF-5F5E93C0DA3E}"/>
              </a:ext>
            </a:extLst>
          </p:cNvPr>
          <p:cNvSpPr>
            <a:spLocks xmlns:a="http://schemas.openxmlformats.org/drawingml/2006/main" noGrp="1"/>
          </p:cNvSpPr>
          <p:nvPr/>
        </p:nvSpPr>
        <p:spPr>
          <a:xfrm xmlns:a="http://schemas.openxmlformats.org/drawingml/2006/main">
            <a:off x="2076450" y="447675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Make absent information visible.</a:t>
            </a:r>
          </a:p>
        </p:txBody>
      </p:sp>
      <p:sp>
        <p:nvSpPr>
          <p:cNvPr id="19" name="">
            <a:extLst xmlns:a="http://schemas.openxmlformats.org/drawingml/2006/main">
              <a:ext uri="{FF2B5EF4-FFF2-40B4-BE49-F238E27FC236}">
                <a16:creationId xmlns:a16="http://schemas.microsoft.com/office/drawing/2014/main" id="{44DAF4D7-69D0-48A4-A492-4118DF9E164B}"/>
              </a:ext>
            </a:extLst>
          </p:cNvPr>
          <p:cNvSpPr>
            <a:spLocks xmlns:a="http://schemas.openxmlformats.org/drawingml/2006/main" noGrp="1"/>
          </p:cNvSpPr>
          <p:nvPr/>
        </p:nvSpPr>
        <p:spPr>
          <a:xfrm xmlns:a="http://schemas.openxmlformats.org/drawingml/2006/main">
            <a:off x="6076950" y="3867150"/>
            <a:ext cx="5143500" cy="1409700"/>
          </a:xfrm>
          <a:prstGeom xmlns:a="http://schemas.openxmlformats.org/drawingml/2006/main" prst="roundRect">
            <a:avLst>
              <a:gd name="adj" fmla="val 10811"/>
            </a:avLst>
          </a:prstGeom>
          <a:solidFill xmlns:a="http://schemas.openxmlformats.org/drawingml/2006/main">
            <a:srgbClr val="ECFDF5"/>
          </a:solidFill>
          <a:ln xmlns:a="http://schemas.openxmlformats.org/drawingml/2006/main" w="9525">
            <a:solidFill>
              <a:srgbClr val="0F766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391E5FE9-60A2-458E-9422-83880569A67F}"/>
              </a:ext>
            </a:extLst>
          </p:cNvPr>
          <p:cNvSpPr>
            <a:spLocks xmlns:a="http://schemas.openxmlformats.org/drawingml/2006/main" noGrp="1"/>
          </p:cNvSpPr>
          <p:nvPr/>
        </p:nvSpPr>
        <p:spPr>
          <a:xfrm xmlns:a="http://schemas.openxmlformats.org/drawingml/2006/main">
            <a:off x="6305550" y="4076700"/>
            <a:ext cx="104775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ESCALATE</a:t>
            </a:r>
          </a:p>
        </p:txBody>
      </p:sp>
      <p:sp>
        <p:nvSpPr>
          <p:cNvPr id="21" name="">
            <a:extLst xmlns:a="http://schemas.openxmlformats.org/drawingml/2006/main">
              <a:ext uri="{FF2B5EF4-FFF2-40B4-BE49-F238E27FC236}">
                <a16:creationId xmlns:a16="http://schemas.microsoft.com/office/drawing/2014/main" id="{DE56D045-7715-487B-9266-CD5869BC4BD8}"/>
              </a:ext>
            </a:extLst>
          </p:cNvPr>
          <p:cNvSpPr>
            <a:spLocks xmlns:a="http://schemas.openxmlformats.org/drawingml/2006/main" noGrp="1"/>
          </p:cNvSpPr>
          <p:nvPr/>
        </p:nvSpPr>
        <p:spPr>
          <a:xfrm xmlns:a="http://schemas.openxmlformats.org/drawingml/2006/main">
            <a:off x="7543800" y="403860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73647"/>
                </a:solidFill>
              </a:defRPr>
            </a:pPr>
            <a:r>
              <a:rPr sz="1500" b="1">
                <a:solidFill>
                  <a:srgbClr val="073647"/>
                </a:solidFill>
              </a:rPr>
              <a:t>Urgency triggers</a:t>
            </a:r>
          </a:p>
        </p:txBody>
      </p:sp>
      <p:sp>
        <p:nvSpPr>
          <p:cNvPr id="22" name="">
            <a:extLst xmlns:a="http://schemas.openxmlformats.org/drawingml/2006/main">
              <a:ext uri="{FF2B5EF4-FFF2-40B4-BE49-F238E27FC236}">
                <a16:creationId xmlns:a16="http://schemas.microsoft.com/office/drawing/2014/main" id="{F3F64715-7DD7-41E6-800D-DAFBB64D7334}"/>
              </a:ext>
            </a:extLst>
          </p:cNvPr>
          <p:cNvSpPr>
            <a:spLocks xmlns:a="http://schemas.openxmlformats.org/drawingml/2006/main" noGrp="1"/>
          </p:cNvSpPr>
          <p:nvPr/>
        </p:nvSpPr>
        <p:spPr>
          <a:xfrm xmlns:a="http://schemas.openxmlformats.org/drawingml/2006/main">
            <a:off x="7543800" y="447675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75569"/>
                </a:solidFill>
              </a:defRPr>
            </a:pPr>
            <a:r>
              <a:rPr sz="1200" b="0">
                <a:solidFill>
                  <a:srgbClr val="475569"/>
                </a:solidFill>
              </a:rPr>
              <a:t>Define when human action cannot wait.</a:t>
            </a:r>
          </a:p>
        </p:txBody>
      </p:sp>
      <p:sp>
        <p:nvSpPr>
          <p:cNvPr id="23" name="">
            <a:extLst xmlns:a="http://schemas.openxmlformats.org/drawingml/2006/main">
              <a:ext uri="{FF2B5EF4-FFF2-40B4-BE49-F238E27FC236}">
                <a16:creationId xmlns:a16="http://schemas.microsoft.com/office/drawing/2014/main" id="{036B3C85-D9F3-49B7-8232-EE54E063E037}"/>
              </a:ext>
            </a:extLst>
          </p:cNvPr>
          <p:cNvSpPr>
            <a:spLocks xmlns:a="http://schemas.openxmlformats.org/drawingml/2006/main" noGrp="1"/>
          </p:cNvSpPr>
          <p:nvPr/>
        </p:nvSpPr>
        <p:spPr>
          <a:xfrm xmlns:a="http://schemas.openxmlformats.org/drawingml/2006/main">
            <a:off x="609600" y="5657850"/>
            <a:ext cx="10610850" cy="419100"/>
          </a:xfrm>
          <a:prstGeom xmlns:a="http://schemas.openxmlformats.org/drawingml/2006/main" prst="roundRect">
            <a:avLst>
              <a:gd name="adj" fmla="val 50000"/>
            </a:avLst>
          </a:prstGeom>
          <a:solidFill xmlns:a="http://schemas.openxmlformats.org/drawingml/2006/main">
            <a:srgbClr val="073647"/>
          </a:solidFill>
          <a:ln xmlns:a="http://schemas.openxmlformats.org/drawingml/2006/main" w="9525">
            <a:solidFill>
              <a:srgbClr val="07364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653052AD-E368-424C-A74C-0A3FDA3993A6}"/>
              </a:ext>
            </a:extLst>
          </p:cNvPr>
          <p:cNvSpPr>
            <a:spLocks xmlns:a="http://schemas.openxmlformats.org/drawingml/2006/main" noGrp="1"/>
          </p:cNvSpPr>
          <p:nvPr/>
        </p:nvSpPr>
        <p:spPr>
          <a:xfrm xmlns:a="http://schemas.openxmlformats.org/drawingml/2006/main">
            <a:off x="876300" y="5753100"/>
            <a:ext cx="10077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FFFFF"/>
                </a:solidFill>
              </a:defRPr>
            </a:pPr>
            <a:r>
              <a:rPr sz="1200" b="1">
                <a:solidFill>
                  <a:srgbClr val="FFFFFF"/>
                </a:solidFill>
              </a:rPr>
              <a:t>Always ask: What evidence supports this? What opposes it? What would change urgency?</a:t>
            </a:r>
          </a:p>
        </p:txBody>
      </p:sp>
    </p:spTree>
    <p:extLst>
      <p:ext uri="{BB962C8B-B14F-4D97-AF65-F5344CB8AC3E}">
        <p14:creationId xmlns:p14="http://schemas.microsoft.com/office/powerpoint/2010/main" val="746322296"/>
      </p:ext>
    </p:extLst>
  </p:cSld>
</p:sld>
</file>

<file path=ppt/slides/slide8.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0F15000-CF28-4698-B28F-6DE1F3BBAE2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A79D74FF-5A5D-434E-9078-D82B98FD5DE5}"/>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41804D3F-5717-436B-A0B1-228EAE999B45}"/>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PILLAR 3</a:t>
            </a:r>
          </a:p>
        </p:txBody>
      </p:sp>
      <p:sp>
        <p:nvSpPr>
          <p:cNvPr id="4" name="slide-title">
            <a:extLst xmlns:a="http://schemas.openxmlformats.org/drawingml/2006/main">
              <a:ext uri="{FF2B5EF4-FFF2-40B4-BE49-F238E27FC236}">
                <a16:creationId xmlns:a16="http://schemas.microsoft.com/office/drawing/2014/main" id="{9D71FE6E-C653-4747-82F6-CF009E6EDBD3}"/>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Two lanes: safety intake and evidence verification</a:t>
            </a:r>
          </a:p>
        </p:txBody>
      </p:sp>
      <p:sp>
        <p:nvSpPr>
          <p:cNvPr id="5" name="slide-subtitle">
            <a:extLst xmlns:a="http://schemas.openxmlformats.org/drawingml/2006/main">
              <a:ext uri="{FF2B5EF4-FFF2-40B4-BE49-F238E27FC236}">
                <a16:creationId xmlns:a16="http://schemas.microsoft.com/office/drawing/2014/main" id="{43193E7A-9659-4C9D-A40E-86B370B29A55}"/>
              </a:ext>
            </a:extLst>
          </p:cNvPr>
          <p:cNvSpPr>
            <a:spLocks xmlns:a="http://schemas.openxmlformats.org/drawingml/2006/main" noGrp="1"/>
          </p:cNvSpPr>
          <p:nvPr/>
        </p:nvSpPr>
        <p:spPr>
          <a:xfrm xmlns:a="http://schemas.openxmlformats.org/drawingml/2006/main">
            <a:off x="609600" y="167640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475569"/>
                </a:solidFill>
              </a:defRPr>
            </a:pPr>
            <a:r>
              <a:rPr sz="1350" b="0">
                <a:solidFill>
                  <a:srgbClr val="475569"/>
                </a:solidFill>
              </a:rPr>
              <a:t>Both gain speed from structure. Neither delegates qualified judgement.</a:t>
            </a:r>
          </a:p>
        </p:txBody>
      </p:sp>
      <p:sp>
        <p:nvSpPr>
          <p:cNvPr id="6" name="slide-number">
            <a:extLst xmlns:a="http://schemas.openxmlformats.org/drawingml/2006/main">
              <a:ext uri="{FF2B5EF4-FFF2-40B4-BE49-F238E27FC236}">
                <a16:creationId xmlns:a16="http://schemas.microsoft.com/office/drawing/2014/main" id="{43BE610D-D1F9-4504-BF31-83D48A05E9F6}"/>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08</a:t>
            </a:r>
          </a:p>
        </p:txBody>
      </p:sp>
      <p:sp>
        <p:nvSpPr>
          <p:cNvPr id="7" name="footer-title">
            <a:extLst xmlns:a="http://schemas.openxmlformats.org/drawingml/2006/main">
              <a:ext uri="{FF2B5EF4-FFF2-40B4-BE49-F238E27FC236}">
                <a16:creationId xmlns:a16="http://schemas.microsoft.com/office/drawing/2014/main" id="{D5C9619F-AB76-4F3B-ADFC-27C95C8D5C4B}"/>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sp>
        <p:nvSpPr>
          <p:cNvPr id="8" name="">
            <a:extLst xmlns:a="http://schemas.openxmlformats.org/drawingml/2006/main">
              <a:ext uri="{FF2B5EF4-FFF2-40B4-BE49-F238E27FC236}">
                <a16:creationId xmlns:a16="http://schemas.microsoft.com/office/drawing/2014/main" id="{86ECCF14-973E-4AD0-BB59-E1AD6B7AB973}"/>
              </a:ext>
            </a:extLst>
          </p:cNvPr>
          <p:cNvSpPr>
            <a:spLocks xmlns:a="http://schemas.openxmlformats.org/drawingml/2006/main" noGrp="1"/>
          </p:cNvSpPr>
          <p:nvPr/>
        </p:nvSpPr>
        <p:spPr>
          <a:xfrm xmlns:a="http://schemas.openxmlformats.org/drawingml/2006/main">
            <a:off x="609600" y="2247900"/>
            <a:ext cx="5143500" cy="3371850"/>
          </a:xfrm>
          <a:prstGeom xmlns:a="http://schemas.openxmlformats.org/drawingml/2006/main" prst="roundRect">
            <a:avLst>
              <a:gd name="adj" fmla="val 4520"/>
            </a:avLst>
          </a:prstGeom>
          <a:solidFill xmlns:a="http://schemas.openxmlformats.org/drawingml/2006/main">
            <a:srgbClr val="FFF7ED"/>
          </a:solidFill>
          <a:ln xmlns:a="http://schemas.openxmlformats.org/drawingml/2006/main" w="9525">
            <a:solidFill>
              <a:srgbClr val="FDBA7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875947E7-EE56-4235-A72A-3C0156ABA5A7}"/>
              </a:ext>
            </a:extLst>
          </p:cNvPr>
          <p:cNvSpPr>
            <a:spLocks xmlns:a="http://schemas.openxmlformats.org/drawingml/2006/main" noGrp="1"/>
          </p:cNvSpPr>
          <p:nvPr/>
        </p:nvSpPr>
        <p:spPr>
          <a:xfrm xmlns:a="http://schemas.openxmlformats.org/drawingml/2006/main">
            <a:off x="876300" y="2514600"/>
            <a:ext cx="1809750" cy="30480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PHARMACOVIGILANCE</a:t>
            </a:r>
          </a:p>
        </p:txBody>
      </p:sp>
      <p:sp>
        <p:nvSpPr>
          <p:cNvPr id="10" name="">
            <a:extLst xmlns:a="http://schemas.openxmlformats.org/drawingml/2006/main">
              <a:ext uri="{FF2B5EF4-FFF2-40B4-BE49-F238E27FC236}">
                <a16:creationId xmlns:a16="http://schemas.microsoft.com/office/drawing/2014/main" id="{4F342496-19E0-4F9B-9A9E-5A84A39CC5C3}"/>
              </a:ext>
            </a:extLst>
          </p:cNvPr>
          <p:cNvSpPr>
            <a:spLocks xmlns:a="http://schemas.openxmlformats.org/drawingml/2006/main" noGrp="1"/>
          </p:cNvSpPr>
          <p:nvPr/>
        </p:nvSpPr>
        <p:spPr>
          <a:xfrm xmlns:a="http://schemas.openxmlformats.org/drawingml/2006/main">
            <a:off x="876300" y="3048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73647"/>
                </a:solidFill>
              </a:defRPr>
            </a:pPr>
            <a:r>
              <a:rPr sz="1500" b="1">
                <a:solidFill>
                  <a:srgbClr val="073647"/>
                </a:solidFill>
              </a:rPr>
              <a:t>AI may help</a:t>
            </a:r>
          </a:p>
        </p:txBody>
      </p:sp>
      <p:sp>
        <p:nvSpPr>
          <p:cNvPr id="11" name="">
            <a:extLst xmlns:a="http://schemas.openxmlformats.org/drawingml/2006/main">
              <a:ext uri="{FF2B5EF4-FFF2-40B4-BE49-F238E27FC236}">
                <a16:creationId xmlns:a16="http://schemas.microsoft.com/office/drawing/2014/main" id="{2EEF6497-9F92-42A1-964E-880278448270}"/>
              </a:ext>
            </a:extLst>
          </p:cNvPr>
          <p:cNvSpPr>
            <a:spLocks xmlns:a="http://schemas.openxmlformats.org/drawingml/2006/main" noGrp="1"/>
          </p:cNvSpPr>
          <p:nvPr/>
        </p:nvSpPr>
        <p:spPr>
          <a:xfrm xmlns:a="http://schemas.openxmlformats.org/drawingml/2006/main">
            <a:off x="876300" y="3467100"/>
            <a:ext cx="22479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0F172A"/>
                </a:solidFill>
              </a:defRPr>
            </a:pPr>
            <a:r>
              <a:rPr sz="1275" b="0">
                <a:solidFill>
                  <a:srgbClr val="0F172A"/>
                </a:solidFill>
              </a:rPr>
              <a:t>• structure chronology</a:t>
            </a:r>
          </a:p>
          <a:p xmlns:a="http://schemas.openxmlformats.org/drawingml/2006/main">
            <a:pPr>
              <a:defRPr sz="1275" b="0">
                <a:solidFill>
                  <a:srgbClr val="0F172A"/>
                </a:solidFill>
              </a:defRPr>
            </a:pPr>
            <a:r>
              <a:rPr sz="1275" b="0">
                <a:solidFill>
                  <a:srgbClr val="0F172A"/>
                </a:solidFill>
              </a:rPr>
              <a:t>• screen seriousness fields</a:t>
            </a:r>
          </a:p>
          <a:p xmlns:a="http://schemas.openxmlformats.org/drawingml/2006/main">
            <a:pPr>
              <a:defRPr sz="1275" b="0">
                <a:solidFill>
                  <a:srgbClr val="0F172A"/>
                </a:solidFill>
              </a:defRPr>
            </a:pPr>
            <a:r>
              <a:rPr sz="1275" b="0">
                <a:solidFill>
                  <a:srgbClr val="0F172A"/>
                </a:solidFill>
              </a:rPr>
              <a:t>• identify missing data</a:t>
            </a:r>
          </a:p>
          <a:p xmlns:a="http://schemas.openxmlformats.org/drawingml/2006/main">
            <a:pPr>
              <a:defRPr sz="1275" b="0">
                <a:solidFill>
                  <a:srgbClr val="0F172A"/>
                </a:solidFill>
              </a:defRPr>
            </a:pPr>
            <a:r>
              <a:rPr sz="1275" b="0">
                <a:solidFill>
                  <a:srgbClr val="0F172A"/>
                </a:solidFill>
              </a:rPr>
              <a:t>• draft neutral follow-up</a:t>
            </a:r>
          </a:p>
        </p:txBody>
      </p:sp>
      <p:sp>
        <p:nvSpPr>
          <p:cNvPr id="12" name="">
            <a:extLst xmlns:a="http://schemas.openxmlformats.org/drawingml/2006/main">
              <a:ext uri="{FF2B5EF4-FFF2-40B4-BE49-F238E27FC236}">
                <a16:creationId xmlns:a16="http://schemas.microsoft.com/office/drawing/2014/main" id="{0B2E0B54-DFE8-438F-95DD-52DE88A41998}"/>
              </a:ext>
            </a:extLst>
          </p:cNvPr>
          <p:cNvSpPr>
            <a:spLocks xmlns:a="http://schemas.openxmlformats.org/drawingml/2006/main" noGrp="1"/>
          </p:cNvSpPr>
          <p:nvPr/>
        </p:nvSpPr>
        <p:spPr>
          <a:xfrm xmlns:a="http://schemas.openxmlformats.org/drawingml/2006/main">
            <a:off x="3143250" y="3467100"/>
            <a:ext cx="2190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C2410C"/>
                </a:solidFill>
              </a:defRPr>
            </a:pPr>
            <a:r>
              <a:rPr sz="1275" b="1">
                <a:solidFill>
                  <a:srgbClr val="C2410C"/>
                </a:solidFill>
              </a:rPr>
              <a:t>Never decide causality, expectedness,</a:t>
            </a:r>
          </a:p>
          <a:p xmlns:a="http://schemas.openxmlformats.org/drawingml/2006/main">
            <a:pPr>
              <a:defRPr sz="1275" b="1">
                <a:solidFill>
                  <a:srgbClr val="C2410C"/>
                </a:solidFill>
              </a:defRPr>
            </a:pPr>
            <a:r>
              <a:rPr sz="1275" b="1">
                <a:solidFill>
                  <a:srgbClr val="C2410C"/>
                </a:solidFill>
              </a:rPr>
              <a:t>coding, or reportability.</a:t>
            </a:r>
          </a:p>
        </p:txBody>
      </p:sp>
      <p:sp>
        <p:nvSpPr>
          <p:cNvPr id="13" name="">
            <a:extLst xmlns:a="http://schemas.openxmlformats.org/drawingml/2006/main">
              <a:ext uri="{FF2B5EF4-FFF2-40B4-BE49-F238E27FC236}">
                <a16:creationId xmlns:a16="http://schemas.microsoft.com/office/drawing/2014/main" id="{02383111-8734-406B-AC11-C6D6F1A70A41}"/>
              </a:ext>
            </a:extLst>
          </p:cNvPr>
          <p:cNvSpPr>
            <a:spLocks xmlns:a="http://schemas.openxmlformats.org/drawingml/2006/main" noGrp="1"/>
          </p:cNvSpPr>
          <p:nvPr/>
        </p:nvSpPr>
        <p:spPr>
          <a:xfrm xmlns:a="http://schemas.openxmlformats.org/drawingml/2006/main">
            <a:off x="6076950" y="2247900"/>
            <a:ext cx="5143500" cy="3371850"/>
          </a:xfrm>
          <a:prstGeom xmlns:a="http://schemas.openxmlformats.org/drawingml/2006/main" prst="roundRect">
            <a:avLst>
              <a:gd name="adj" fmla="val 4520"/>
            </a:avLst>
          </a:prstGeom>
          <a:solidFill xmlns:a="http://schemas.openxmlformats.org/drawingml/2006/main">
            <a:srgbClr val="EFF6FF"/>
          </a:solidFill>
          <a:ln xmlns:a="http://schemas.openxmlformats.org/drawingml/2006/main" w="9525">
            <a:solidFill>
              <a:srgbClr val="93C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28F822A3-F6F7-4281-B82B-F9C96F15C109}"/>
              </a:ext>
            </a:extLst>
          </p:cNvPr>
          <p:cNvSpPr>
            <a:spLocks xmlns:a="http://schemas.openxmlformats.org/drawingml/2006/main" noGrp="1"/>
          </p:cNvSpPr>
          <p:nvPr/>
        </p:nvSpPr>
        <p:spPr>
          <a:xfrm xmlns:a="http://schemas.openxmlformats.org/drawingml/2006/main">
            <a:off x="6343650" y="2514600"/>
            <a:ext cx="1066800" cy="3048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9525">
            <a:solidFill>
              <a:srgbClr val="4F46E5"/>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EVIDENCE</a:t>
            </a:r>
          </a:p>
        </p:txBody>
      </p:sp>
      <p:sp>
        <p:nvSpPr>
          <p:cNvPr id="15" name="">
            <a:extLst xmlns:a="http://schemas.openxmlformats.org/drawingml/2006/main">
              <a:ext uri="{FF2B5EF4-FFF2-40B4-BE49-F238E27FC236}">
                <a16:creationId xmlns:a16="http://schemas.microsoft.com/office/drawing/2014/main" id="{209E7EC8-615D-46A0-97E0-240EBDFF69DE}"/>
              </a:ext>
            </a:extLst>
          </p:cNvPr>
          <p:cNvSpPr>
            <a:spLocks xmlns:a="http://schemas.openxmlformats.org/drawingml/2006/main" noGrp="1"/>
          </p:cNvSpPr>
          <p:nvPr/>
        </p:nvSpPr>
        <p:spPr>
          <a:xfrm xmlns:a="http://schemas.openxmlformats.org/drawingml/2006/main">
            <a:off x="6343650" y="3048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73647"/>
                </a:solidFill>
              </a:defRPr>
            </a:pPr>
            <a:r>
              <a:rPr sz="1500" b="1">
                <a:solidFill>
                  <a:srgbClr val="073647"/>
                </a:solidFill>
              </a:rPr>
              <a:t>AI may help</a:t>
            </a:r>
          </a:p>
        </p:txBody>
      </p:sp>
      <p:sp>
        <p:nvSpPr>
          <p:cNvPr id="16" name="">
            <a:extLst xmlns:a="http://schemas.openxmlformats.org/drawingml/2006/main">
              <a:ext uri="{FF2B5EF4-FFF2-40B4-BE49-F238E27FC236}">
                <a16:creationId xmlns:a16="http://schemas.microsoft.com/office/drawing/2014/main" id="{F120BA84-A4D6-4349-86F6-B787D8EFB0AC}"/>
              </a:ext>
            </a:extLst>
          </p:cNvPr>
          <p:cNvSpPr>
            <a:spLocks xmlns:a="http://schemas.openxmlformats.org/drawingml/2006/main" noGrp="1"/>
          </p:cNvSpPr>
          <p:nvPr/>
        </p:nvSpPr>
        <p:spPr>
          <a:xfrm xmlns:a="http://schemas.openxmlformats.org/drawingml/2006/main">
            <a:off x="6343650" y="3467100"/>
            <a:ext cx="22479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0F172A"/>
                </a:solidFill>
              </a:defRPr>
            </a:pPr>
            <a:r>
              <a:rPr sz="1275" b="0">
                <a:solidFill>
                  <a:srgbClr val="0F172A"/>
                </a:solidFill>
              </a:rPr>
              <a:t>• form PICO/PECO</a:t>
            </a:r>
          </a:p>
          <a:p xmlns:a="http://schemas.openxmlformats.org/drawingml/2006/main">
            <a:pPr>
              <a:defRPr sz="1275" b="0">
                <a:solidFill>
                  <a:srgbClr val="0F172A"/>
                </a:solidFill>
              </a:defRPr>
            </a:pPr>
            <a:r>
              <a:rPr sz="1275" b="0">
                <a:solidFill>
                  <a:srgbClr val="0F172A"/>
                </a:solidFill>
              </a:rPr>
              <a:t>• expand search concepts</a:t>
            </a:r>
          </a:p>
          <a:p xmlns:a="http://schemas.openxmlformats.org/drawingml/2006/main">
            <a:pPr>
              <a:defRPr sz="1275" b="0">
                <a:solidFill>
                  <a:srgbClr val="0F172A"/>
                </a:solidFill>
              </a:defRPr>
            </a:pPr>
            <a:r>
              <a:rPr sz="1275" b="0">
                <a:solidFill>
                  <a:srgbClr val="0F172A"/>
                </a:solidFill>
              </a:rPr>
              <a:t>• extract supplied sources</a:t>
            </a:r>
          </a:p>
          <a:p xmlns:a="http://schemas.openxmlformats.org/drawingml/2006/main">
            <a:pPr>
              <a:defRPr sz="1275" b="0">
                <a:solidFill>
                  <a:srgbClr val="0F172A"/>
                </a:solidFill>
              </a:defRPr>
            </a:pPr>
            <a:r>
              <a:rPr sz="1275" b="0">
                <a:solidFill>
                  <a:srgbClr val="0F172A"/>
                </a:solidFill>
              </a:rPr>
              <a:t>• map evidence gaps</a:t>
            </a:r>
          </a:p>
        </p:txBody>
      </p:sp>
      <p:sp>
        <p:nvSpPr>
          <p:cNvPr id="17" name="">
            <a:extLst xmlns:a="http://schemas.openxmlformats.org/drawingml/2006/main">
              <a:ext uri="{FF2B5EF4-FFF2-40B4-BE49-F238E27FC236}">
                <a16:creationId xmlns:a16="http://schemas.microsoft.com/office/drawing/2014/main" id="{ED99F900-C8E1-4FBD-9FD3-A6FC074A0C6B}"/>
              </a:ext>
            </a:extLst>
          </p:cNvPr>
          <p:cNvSpPr>
            <a:spLocks xmlns:a="http://schemas.openxmlformats.org/drawingml/2006/main" noGrp="1"/>
          </p:cNvSpPr>
          <p:nvPr/>
        </p:nvSpPr>
        <p:spPr>
          <a:xfrm xmlns:a="http://schemas.openxmlformats.org/drawingml/2006/main">
            <a:off x="8610600" y="346710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4F46E5"/>
                </a:solidFill>
              </a:defRPr>
            </a:pPr>
            <a:r>
              <a:rPr sz="1275" b="1">
                <a:solidFill>
                  <a:srgbClr val="4F46E5"/>
                </a:solidFill>
              </a:rPr>
              <a:t>Never invent a citation.</a:t>
            </a:r>
          </a:p>
          <a:p xmlns:a="http://schemas.openxmlformats.org/drawingml/2006/main">
            <a:pPr>
              <a:defRPr sz="1275" b="1">
                <a:solidFill>
                  <a:srgbClr val="4F46E5"/>
                </a:solidFill>
              </a:defRPr>
            </a:pPr>
            <a:r>
              <a:rPr sz="1275" b="1">
                <a:solidFill>
                  <a:srgbClr val="4F46E5"/>
                </a:solidFill>
              </a:rPr>
              <a:t>Open and verify every source.</a:t>
            </a:r>
          </a:p>
        </p:txBody>
      </p:sp>
      <p:sp>
        <p:nvSpPr>
          <p:cNvPr id="18" name="">
            <a:extLst xmlns:a="http://schemas.openxmlformats.org/drawingml/2006/main">
              <a:ext uri="{FF2B5EF4-FFF2-40B4-BE49-F238E27FC236}">
                <a16:creationId xmlns:a16="http://schemas.microsoft.com/office/drawing/2014/main" id="{27ADAF77-E13A-4001-A9A7-1801A06A10CA}"/>
              </a:ext>
            </a:extLst>
          </p:cNvPr>
          <p:cNvSpPr>
            <a:spLocks xmlns:a="http://schemas.openxmlformats.org/drawingml/2006/main" noGrp="1"/>
          </p:cNvSpPr>
          <p:nvPr/>
        </p:nvSpPr>
        <p:spPr>
          <a:xfrm xmlns:a="http://schemas.openxmlformats.org/drawingml/2006/main">
            <a:off x="876300" y="5829300"/>
            <a:ext cx="996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73647"/>
                </a:solidFill>
              </a:defRPr>
            </a:pPr>
            <a:r>
              <a:rPr sz="1200" b="1">
                <a:solidFill>
                  <a:srgbClr val="073647"/>
                </a:solidFill>
              </a:rPr>
              <a:t>Human-owned: safety decisions • screening log • source checks • interpretation • disclosure</a:t>
            </a:r>
          </a:p>
        </p:txBody>
      </p:sp>
    </p:spTree>
    <p:extLst>
      <p:ext uri="{BB962C8B-B14F-4D97-AF65-F5344CB8AC3E}">
        <p14:creationId xmlns:p14="http://schemas.microsoft.com/office/powerpoint/2010/main" val="152212771"/>
      </p:ext>
    </p:extLst>
  </p:cSld>
</p:sld>
</file>

<file path=ppt/slides/slide9.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2D26EA-BB95-430D-A6C4-37A33C83AA7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25A310FA-40F7-401D-ADC0-E316C26BCE4C}"/>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3C4822DB-BFCB-42FE-B1C6-B743E9E9E847}"/>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PILLAR 4</a:t>
            </a:r>
          </a:p>
        </p:txBody>
      </p:sp>
      <p:sp>
        <p:nvSpPr>
          <p:cNvPr id="4" name="slide-title">
            <a:extLst xmlns:a="http://schemas.openxmlformats.org/drawingml/2006/main">
              <a:ext uri="{FF2B5EF4-FFF2-40B4-BE49-F238E27FC236}">
                <a16:creationId xmlns:a16="http://schemas.microsoft.com/office/drawing/2014/main" id="{8609F499-6D27-4114-B083-5844D851A610}"/>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Risk follows data × impact × autonomy × reach</a:t>
            </a:r>
          </a:p>
        </p:txBody>
      </p:sp>
      <p:sp>
        <p:nvSpPr>
          <p:cNvPr id="5" name="slide-subtitle">
            <a:extLst xmlns:a="http://schemas.openxmlformats.org/drawingml/2006/main">
              <a:ext uri="{FF2B5EF4-FFF2-40B4-BE49-F238E27FC236}">
                <a16:creationId xmlns:a16="http://schemas.microsoft.com/office/drawing/2014/main" id="{B72EF319-4AEB-4810-9E8E-697D1B527B10}"/>
              </a:ext>
            </a:extLst>
          </p:cNvPr>
          <p:cNvSpPr>
            <a:spLocks xmlns:a="http://schemas.openxmlformats.org/drawingml/2006/main" noGrp="1"/>
          </p:cNvSpPr>
          <p:nvPr/>
        </p:nvSpPr>
        <p:spPr>
          <a:xfrm xmlns:a="http://schemas.openxmlformats.org/drawingml/2006/main">
            <a:off x="609600" y="167640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475569"/>
                </a:solidFill>
              </a:defRPr>
            </a:pPr>
            <a:r>
              <a:rPr sz="1350" b="0">
                <a:solidFill>
                  <a:srgbClr val="475569"/>
                </a:solidFill>
              </a:rPr>
              <a:t>Use the highest-risk dimension to set minimum controls and a stop condition.</a:t>
            </a:r>
          </a:p>
        </p:txBody>
      </p:sp>
      <p:sp>
        <p:nvSpPr>
          <p:cNvPr id="6" name="slide-number">
            <a:extLst xmlns:a="http://schemas.openxmlformats.org/drawingml/2006/main">
              <a:ext uri="{FF2B5EF4-FFF2-40B4-BE49-F238E27FC236}">
                <a16:creationId xmlns:a16="http://schemas.microsoft.com/office/drawing/2014/main" id="{6FB6F50C-D64B-4ED0-AF30-28D243CAD5E0}"/>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09</a:t>
            </a:r>
          </a:p>
        </p:txBody>
      </p:sp>
      <p:sp>
        <p:nvSpPr>
          <p:cNvPr id="7" name="footer-title">
            <a:extLst xmlns:a="http://schemas.openxmlformats.org/drawingml/2006/main">
              <a:ext uri="{FF2B5EF4-FFF2-40B4-BE49-F238E27FC236}">
                <a16:creationId xmlns:a16="http://schemas.microsoft.com/office/drawing/2014/main" id="{E71CF718-F6FF-484E-83D5-0B76991D5FF9}"/>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sp>
        <p:nvSpPr>
          <p:cNvPr id="8" name="">
            <a:extLst xmlns:a="http://schemas.openxmlformats.org/drawingml/2006/main">
              <a:ext uri="{FF2B5EF4-FFF2-40B4-BE49-F238E27FC236}">
                <a16:creationId xmlns:a16="http://schemas.microsoft.com/office/drawing/2014/main" id="{EF0E0725-8473-4E66-888A-B2934DAA9473}"/>
              </a:ext>
            </a:extLst>
          </p:cNvPr>
          <p:cNvSpPr>
            <a:spLocks xmlns:a="http://schemas.openxmlformats.org/drawingml/2006/main" noGrp="1"/>
          </p:cNvSpPr>
          <p:nvPr/>
        </p:nvSpPr>
        <p:spPr>
          <a:xfrm xmlns:a="http://schemas.openxmlformats.org/drawingml/2006/main">
            <a:off x="609600" y="2190750"/>
            <a:ext cx="99060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DATA</a:t>
            </a:r>
          </a:p>
        </p:txBody>
      </p:sp>
      <p:sp>
        <p:nvSpPr>
          <p:cNvPr id="9" name="">
            <a:extLst xmlns:a="http://schemas.openxmlformats.org/drawingml/2006/main">
              <a:ext uri="{FF2B5EF4-FFF2-40B4-BE49-F238E27FC236}">
                <a16:creationId xmlns:a16="http://schemas.microsoft.com/office/drawing/2014/main" id="{7F506F85-2D12-4C8C-8E6C-F66B9D0AFBBA}"/>
              </a:ext>
            </a:extLst>
          </p:cNvPr>
          <p:cNvSpPr>
            <a:spLocks xmlns:a="http://schemas.openxmlformats.org/drawingml/2006/main" noGrp="1"/>
          </p:cNvSpPr>
          <p:nvPr/>
        </p:nvSpPr>
        <p:spPr>
          <a:xfrm xmlns:a="http://schemas.openxmlformats.org/drawingml/2006/main">
            <a:off x="1809750" y="21812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F172A"/>
                </a:solidFill>
              </a:defRPr>
            </a:pPr>
            <a:r>
              <a:rPr sz="1350" b="1">
                <a:solidFill>
                  <a:srgbClr val="0F172A"/>
                </a:solidFill>
              </a:rPr>
              <a:t>Synthetic → identifiable / highly sensitive</a:t>
            </a:r>
          </a:p>
        </p:txBody>
      </p:sp>
      <p:sp>
        <p:nvSpPr>
          <p:cNvPr id="10" name="">
            <a:extLst xmlns:a="http://schemas.openxmlformats.org/drawingml/2006/main">
              <a:ext uri="{FF2B5EF4-FFF2-40B4-BE49-F238E27FC236}">
                <a16:creationId xmlns:a16="http://schemas.microsoft.com/office/drawing/2014/main" id="{E6996C8D-909F-4583-AFA1-BAFC9076F7A5}"/>
              </a:ext>
            </a:extLst>
          </p:cNvPr>
          <p:cNvSpPr>
            <a:spLocks xmlns:a="http://schemas.openxmlformats.org/drawingml/2006/main" noGrp="1"/>
          </p:cNvSpPr>
          <p:nvPr/>
        </p:nvSpPr>
        <p:spPr>
          <a:xfrm xmlns:a="http://schemas.openxmlformats.org/drawingml/2006/main">
            <a:off x="6438900" y="2352675"/>
            <a:ext cx="1981200" cy="0"/>
          </a:xfrm>
          <a:prstGeom xmlns:a="http://schemas.openxmlformats.org/drawingml/2006/main" prst="line">
            <a:avLst/>
          </a:prstGeom>
          <a:noFill xmlns:a="http://schemas.openxmlformats.org/drawingml/2006/main"/>
          <a:ln xmlns:a="http://schemas.openxmlformats.org/drawingml/2006/main" w="57150">
            <a:solidFill>
              <a:srgbClr val="0891B2"/>
            </a:solidFill>
            <a:prstDash val="solid"/>
          </a:ln>
        </p:spPr>
      </p:sp>
      <p:sp>
        <p:nvSpPr>
          <p:cNvPr id="11" name="">
            <a:extLst xmlns:a="http://schemas.openxmlformats.org/drawingml/2006/main">
              <a:ext uri="{FF2B5EF4-FFF2-40B4-BE49-F238E27FC236}">
                <a16:creationId xmlns:a16="http://schemas.microsoft.com/office/drawing/2014/main" id="{0600DAD4-4ED7-4FA0-836A-8B9EB5873A25}"/>
              </a:ext>
            </a:extLst>
          </p:cNvPr>
          <p:cNvSpPr>
            <a:spLocks xmlns:a="http://schemas.openxmlformats.org/drawingml/2006/main" noGrp="1"/>
          </p:cNvSpPr>
          <p:nvPr/>
        </p:nvSpPr>
        <p:spPr>
          <a:xfrm xmlns:a="http://schemas.openxmlformats.org/drawingml/2006/main">
            <a:off x="6438900" y="245745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475569"/>
                </a:solidFill>
              </a:defRPr>
            </a:pPr>
            <a:r>
              <a:rPr sz="750" b="1">
                <a:solidFill>
                  <a:srgbClr val="475569"/>
                </a:solidFill>
              </a:rPr>
              <a:t>LOWER</a:t>
            </a:r>
          </a:p>
        </p:txBody>
      </p:sp>
      <p:sp>
        <p:nvSpPr>
          <p:cNvPr id="12" name="">
            <a:extLst xmlns:a="http://schemas.openxmlformats.org/drawingml/2006/main">
              <a:ext uri="{FF2B5EF4-FFF2-40B4-BE49-F238E27FC236}">
                <a16:creationId xmlns:a16="http://schemas.microsoft.com/office/drawing/2014/main" id="{A2309556-0233-46FB-9492-F6FD70CDCD3D}"/>
              </a:ext>
            </a:extLst>
          </p:cNvPr>
          <p:cNvSpPr>
            <a:spLocks xmlns:a="http://schemas.openxmlformats.org/drawingml/2006/main" noGrp="1"/>
          </p:cNvSpPr>
          <p:nvPr/>
        </p:nvSpPr>
        <p:spPr>
          <a:xfrm xmlns:a="http://schemas.openxmlformats.org/drawingml/2006/main">
            <a:off x="7867650" y="245745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475569"/>
                </a:solidFill>
              </a:defRPr>
            </a:pPr>
            <a:r>
              <a:rPr sz="750" b="1">
                <a:solidFill>
                  <a:srgbClr val="475569"/>
                </a:solidFill>
              </a:rPr>
              <a:t>HIGHER</a:t>
            </a:r>
          </a:p>
        </p:txBody>
      </p:sp>
      <p:sp>
        <p:nvSpPr>
          <p:cNvPr id="13" name="">
            <a:extLst xmlns:a="http://schemas.openxmlformats.org/drawingml/2006/main">
              <a:ext uri="{FF2B5EF4-FFF2-40B4-BE49-F238E27FC236}">
                <a16:creationId xmlns:a16="http://schemas.microsoft.com/office/drawing/2014/main" id="{25ED5B73-A0FB-41D6-B9DF-FF2041C0491D}"/>
              </a:ext>
            </a:extLst>
          </p:cNvPr>
          <p:cNvSpPr>
            <a:spLocks xmlns:a="http://schemas.openxmlformats.org/drawingml/2006/main" noGrp="1"/>
          </p:cNvSpPr>
          <p:nvPr/>
        </p:nvSpPr>
        <p:spPr>
          <a:xfrm xmlns:a="http://schemas.openxmlformats.org/drawingml/2006/main">
            <a:off x="609600" y="3009900"/>
            <a:ext cx="99060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IMPACT</a:t>
            </a:r>
          </a:p>
        </p:txBody>
      </p:sp>
      <p:sp>
        <p:nvSpPr>
          <p:cNvPr id="14" name="">
            <a:extLst xmlns:a="http://schemas.openxmlformats.org/drawingml/2006/main">
              <a:ext uri="{FF2B5EF4-FFF2-40B4-BE49-F238E27FC236}">
                <a16:creationId xmlns:a16="http://schemas.microsoft.com/office/drawing/2014/main" id="{430555E2-5CB3-43AF-B0CA-89D8D0075E54}"/>
              </a:ext>
            </a:extLst>
          </p:cNvPr>
          <p:cNvSpPr>
            <a:spLocks xmlns:a="http://schemas.openxmlformats.org/drawingml/2006/main" noGrp="1"/>
          </p:cNvSpPr>
          <p:nvPr/>
        </p:nvSpPr>
        <p:spPr>
          <a:xfrm xmlns:a="http://schemas.openxmlformats.org/drawingml/2006/main">
            <a:off x="1809750" y="30003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F172A"/>
                </a:solidFill>
              </a:defRPr>
            </a:pPr>
            <a:r>
              <a:rPr sz="1350" b="1">
                <a:solidFill>
                  <a:srgbClr val="0F172A"/>
                </a:solidFill>
              </a:rPr>
              <a:t>Communication → influences care</a:t>
            </a:r>
          </a:p>
        </p:txBody>
      </p:sp>
      <p:sp>
        <p:nvSpPr>
          <p:cNvPr id="15" name="">
            <a:extLst xmlns:a="http://schemas.openxmlformats.org/drawingml/2006/main">
              <a:ext uri="{FF2B5EF4-FFF2-40B4-BE49-F238E27FC236}">
                <a16:creationId xmlns:a16="http://schemas.microsoft.com/office/drawing/2014/main" id="{478D4761-3BBF-434B-8ABE-DC2A89C802CA}"/>
              </a:ext>
            </a:extLst>
          </p:cNvPr>
          <p:cNvSpPr>
            <a:spLocks xmlns:a="http://schemas.openxmlformats.org/drawingml/2006/main" noGrp="1"/>
          </p:cNvSpPr>
          <p:nvPr/>
        </p:nvSpPr>
        <p:spPr>
          <a:xfrm xmlns:a="http://schemas.openxmlformats.org/drawingml/2006/main">
            <a:off x="6438900" y="3171825"/>
            <a:ext cx="1981200" cy="0"/>
          </a:xfrm>
          <a:prstGeom xmlns:a="http://schemas.openxmlformats.org/drawingml/2006/main" prst="line">
            <a:avLst/>
          </a:prstGeom>
          <a:noFill xmlns:a="http://schemas.openxmlformats.org/drawingml/2006/main"/>
          <a:ln xmlns:a="http://schemas.openxmlformats.org/drawingml/2006/main" w="57150">
            <a:solidFill>
              <a:srgbClr val="0F766E"/>
            </a:solidFill>
            <a:prstDash val="solid"/>
          </a:ln>
        </p:spPr>
      </p:sp>
      <p:sp>
        <p:nvSpPr>
          <p:cNvPr id="16" name="">
            <a:extLst xmlns:a="http://schemas.openxmlformats.org/drawingml/2006/main">
              <a:ext uri="{FF2B5EF4-FFF2-40B4-BE49-F238E27FC236}">
                <a16:creationId xmlns:a16="http://schemas.microsoft.com/office/drawing/2014/main" id="{E6DD394A-8CE0-4A04-8FC1-99BF2CBF6A71}"/>
              </a:ext>
            </a:extLst>
          </p:cNvPr>
          <p:cNvSpPr>
            <a:spLocks xmlns:a="http://schemas.openxmlformats.org/drawingml/2006/main" noGrp="1"/>
          </p:cNvSpPr>
          <p:nvPr/>
        </p:nvSpPr>
        <p:spPr>
          <a:xfrm xmlns:a="http://schemas.openxmlformats.org/drawingml/2006/main">
            <a:off x="6438900" y="32766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475569"/>
                </a:solidFill>
              </a:defRPr>
            </a:pPr>
            <a:r>
              <a:rPr sz="750" b="1">
                <a:solidFill>
                  <a:srgbClr val="475569"/>
                </a:solidFill>
              </a:rPr>
              <a:t>LOWER</a:t>
            </a:r>
          </a:p>
        </p:txBody>
      </p:sp>
      <p:sp>
        <p:nvSpPr>
          <p:cNvPr id="17" name="">
            <a:extLst xmlns:a="http://schemas.openxmlformats.org/drawingml/2006/main">
              <a:ext uri="{FF2B5EF4-FFF2-40B4-BE49-F238E27FC236}">
                <a16:creationId xmlns:a16="http://schemas.microsoft.com/office/drawing/2014/main" id="{C0ED030D-881B-4F6D-97A5-6145EC6BA809}"/>
              </a:ext>
            </a:extLst>
          </p:cNvPr>
          <p:cNvSpPr>
            <a:spLocks xmlns:a="http://schemas.openxmlformats.org/drawingml/2006/main" noGrp="1"/>
          </p:cNvSpPr>
          <p:nvPr/>
        </p:nvSpPr>
        <p:spPr>
          <a:xfrm xmlns:a="http://schemas.openxmlformats.org/drawingml/2006/main">
            <a:off x="7867650" y="32766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475569"/>
                </a:solidFill>
              </a:defRPr>
            </a:pPr>
            <a:r>
              <a:rPr sz="750" b="1">
                <a:solidFill>
                  <a:srgbClr val="475569"/>
                </a:solidFill>
              </a:rPr>
              <a:t>HIGHER</a:t>
            </a:r>
          </a:p>
        </p:txBody>
      </p:sp>
      <p:sp>
        <p:nvSpPr>
          <p:cNvPr id="18" name="">
            <a:extLst xmlns:a="http://schemas.openxmlformats.org/drawingml/2006/main">
              <a:ext uri="{FF2B5EF4-FFF2-40B4-BE49-F238E27FC236}">
                <a16:creationId xmlns:a16="http://schemas.microsoft.com/office/drawing/2014/main" id="{C37B286C-8151-45B7-8853-736FE2CE039C}"/>
              </a:ext>
            </a:extLst>
          </p:cNvPr>
          <p:cNvSpPr>
            <a:spLocks xmlns:a="http://schemas.openxmlformats.org/drawingml/2006/main" noGrp="1"/>
          </p:cNvSpPr>
          <p:nvPr/>
        </p:nvSpPr>
        <p:spPr>
          <a:xfrm xmlns:a="http://schemas.openxmlformats.org/drawingml/2006/main">
            <a:off x="609600" y="3829050"/>
            <a:ext cx="990600" cy="3048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9525">
            <a:solidFill>
              <a:srgbClr val="4F46E5"/>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AUTONOMY</a:t>
            </a:r>
          </a:p>
        </p:txBody>
      </p:sp>
      <p:sp>
        <p:nvSpPr>
          <p:cNvPr id="19" name="">
            <a:extLst xmlns:a="http://schemas.openxmlformats.org/drawingml/2006/main">
              <a:ext uri="{FF2B5EF4-FFF2-40B4-BE49-F238E27FC236}">
                <a16:creationId xmlns:a16="http://schemas.microsoft.com/office/drawing/2014/main" id="{3F6AD2FD-AA6E-4E91-B684-3C45B8083881}"/>
              </a:ext>
            </a:extLst>
          </p:cNvPr>
          <p:cNvSpPr>
            <a:spLocks xmlns:a="http://schemas.openxmlformats.org/drawingml/2006/main" noGrp="1"/>
          </p:cNvSpPr>
          <p:nvPr/>
        </p:nvSpPr>
        <p:spPr>
          <a:xfrm xmlns:a="http://schemas.openxmlformats.org/drawingml/2006/main">
            <a:off x="1809750" y="38195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F172A"/>
                </a:solidFill>
              </a:defRPr>
            </a:pPr>
            <a:r>
              <a:rPr sz="1350" b="1">
                <a:solidFill>
                  <a:srgbClr val="0F172A"/>
                </a:solidFill>
              </a:rPr>
              <a:t>Draft → default → autonomous action</a:t>
            </a:r>
          </a:p>
        </p:txBody>
      </p:sp>
      <p:sp>
        <p:nvSpPr>
          <p:cNvPr id="20" name="">
            <a:extLst xmlns:a="http://schemas.openxmlformats.org/drawingml/2006/main">
              <a:ext uri="{FF2B5EF4-FFF2-40B4-BE49-F238E27FC236}">
                <a16:creationId xmlns:a16="http://schemas.microsoft.com/office/drawing/2014/main" id="{2673E449-76B7-448C-BCDE-74ECFB859ABE}"/>
              </a:ext>
            </a:extLst>
          </p:cNvPr>
          <p:cNvSpPr>
            <a:spLocks xmlns:a="http://schemas.openxmlformats.org/drawingml/2006/main" noGrp="1"/>
          </p:cNvSpPr>
          <p:nvPr/>
        </p:nvSpPr>
        <p:spPr>
          <a:xfrm xmlns:a="http://schemas.openxmlformats.org/drawingml/2006/main">
            <a:off x="6438900" y="3990975"/>
            <a:ext cx="1981200" cy="0"/>
          </a:xfrm>
          <a:prstGeom xmlns:a="http://schemas.openxmlformats.org/drawingml/2006/main" prst="line">
            <a:avLst/>
          </a:prstGeom>
          <a:noFill xmlns:a="http://schemas.openxmlformats.org/drawingml/2006/main"/>
          <a:ln xmlns:a="http://schemas.openxmlformats.org/drawingml/2006/main" w="57150">
            <a:solidFill>
              <a:srgbClr val="4F46E5"/>
            </a:solidFill>
            <a:prstDash val="solid"/>
          </a:ln>
        </p:spPr>
      </p:sp>
      <p:sp>
        <p:nvSpPr>
          <p:cNvPr id="21" name="">
            <a:extLst xmlns:a="http://schemas.openxmlformats.org/drawingml/2006/main">
              <a:ext uri="{FF2B5EF4-FFF2-40B4-BE49-F238E27FC236}">
                <a16:creationId xmlns:a16="http://schemas.microsoft.com/office/drawing/2014/main" id="{2B3CD5EC-0180-45EA-866E-402C88B6F991}"/>
              </a:ext>
            </a:extLst>
          </p:cNvPr>
          <p:cNvSpPr>
            <a:spLocks xmlns:a="http://schemas.openxmlformats.org/drawingml/2006/main" noGrp="1"/>
          </p:cNvSpPr>
          <p:nvPr/>
        </p:nvSpPr>
        <p:spPr>
          <a:xfrm xmlns:a="http://schemas.openxmlformats.org/drawingml/2006/main">
            <a:off x="6438900" y="409575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475569"/>
                </a:solidFill>
              </a:defRPr>
            </a:pPr>
            <a:r>
              <a:rPr sz="750" b="1">
                <a:solidFill>
                  <a:srgbClr val="475569"/>
                </a:solidFill>
              </a:rPr>
              <a:t>LOWER</a:t>
            </a:r>
          </a:p>
        </p:txBody>
      </p:sp>
      <p:sp>
        <p:nvSpPr>
          <p:cNvPr id="22" name="">
            <a:extLst xmlns:a="http://schemas.openxmlformats.org/drawingml/2006/main">
              <a:ext uri="{FF2B5EF4-FFF2-40B4-BE49-F238E27FC236}">
                <a16:creationId xmlns:a16="http://schemas.microsoft.com/office/drawing/2014/main" id="{B9E4C361-09C6-4693-8184-E3FF1C60CE39}"/>
              </a:ext>
            </a:extLst>
          </p:cNvPr>
          <p:cNvSpPr>
            <a:spLocks xmlns:a="http://schemas.openxmlformats.org/drawingml/2006/main" noGrp="1"/>
          </p:cNvSpPr>
          <p:nvPr/>
        </p:nvSpPr>
        <p:spPr>
          <a:xfrm xmlns:a="http://schemas.openxmlformats.org/drawingml/2006/main">
            <a:off x="7867650" y="409575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475569"/>
                </a:solidFill>
              </a:defRPr>
            </a:pPr>
            <a:r>
              <a:rPr sz="750" b="1">
                <a:solidFill>
                  <a:srgbClr val="475569"/>
                </a:solidFill>
              </a:rPr>
              <a:t>HIGHER</a:t>
            </a:r>
          </a:p>
        </p:txBody>
      </p:sp>
      <p:sp>
        <p:nvSpPr>
          <p:cNvPr id="23" name="">
            <a:extLst xmlns:a="http://schemas.openxmlformats.org/drawingml/2006/main">
              <a:ext uri="{FF2B5EF4-FFF2-40B4-BE49-F238E27FC236}">
                <a16:creationId xmlns:a16="http://schemas.microsoft.com/office/drawing/2014/main" id="{22DAF2B2-A772-464D-AA80-3B24847F3CD9}"/>
              </a:ext>
            </a:extLst>
          </p:cNvPr>
          <p:cNvSpPr>
            <a:spLocks xmlns:a="http://schemas.openxmlformats.org/drawingml/2006/main" noGrp="1"/>
          </p:cNvSpPr>
          <p:nvPr/>
        </p:nvSpPr>
        <p:spPr>
          <a:xfrm xmlns:a="http://schemas.openxmlformats.org/drawingml/2006/main">
            <a:off x="609600" y="4648200"/>
            <a:ext cx="990600" cy="30480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REACH</a:t>
            </a:r>
          </a:p>
        </p:txBody>
      </p:sp>
      <p:sp>
        <p:nvSpPr>
          <p:cNvPr id="24" name="">
            <a:extLst xmlns:a="http://schemas.openxmlformats.org/drawingml/2006/main">
              <a:ext uri="{FF2B5EF4-FFF2-40B4-BE49-F238E27FC236}">
                <a16:creationId xmlns:a16="http://schemas.microsoft.com/office/drawing/2014/main" id="{1994D24B-FC97-4028-93B1-2651EF44AC78}"/>
              </a:ext>
            </a:extLst>
          </p:cNvPr>
          <p:cNvSpPr>
            <a:spLocks xmlns:a="http://schemas.openxmlformats.org/drawingml/2006/main" noGrp="1"/>
          </p:cNvSpPr>
          <p:nvPr/>
        </p:nvSpPr>
        <p:spPr>
          <a:xfrm xmlns:a="http://schemas.openxmlformats.org/drawingml/2006/main">
            <a:off x="1809750" y="46386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F172A"/>
                </a:solidFill>
              </a:defRPr>
            </a:pPr>
            <a:r>
              <a:rPr sz="1350" b="1">
                <a:solidFill>
                  <a:srgbClr val="0F172A"/>
                </a:solidFill>
              </a:rPr>
              <a:t>Sandbox → patient / population scale</a:t>
            </a:r>
          </a:p>
        </p:txBody>
      </p:sp>
      <p:sp>
        <p:nvSpPr>
          <p:cNvPr id="25" name="">
            <a:extLst xmlns:a="http://schemas.openxmlformats.org/drawingml/2006/main">
              <a:ext uri="{FF2B5EF4-FFF2-40B4-BE49-F238E27FC236}">
                <a16:creationId xmlns:a16="http://schemas.microsoft.com/office/drawing/2014/main" id="{6B437000-F703-48E7-B69F-980C31FFEDF4}"/>
              </a:ext>
            </a:extLst>
          </p:cNvPr>
          <p:cNvSpPr>
            <a:spLocks xmlns:a="http://schemas.openxmlformats.org/drawingml/2006/main" noGrp="1"/>
          </p:cNvSpPr>
          <p:nvPr/>
        </p:nvSpPr>
        <p:spPr>
          <a:xfrm xmlns:a="http://schemas.openxmlformats.org/drawingml/2006/main">
            <a:off x="6438900" y="4810125"/>
            <a:ext cx="1981200" cy="0"/>
          </a:xfrm>
          <a:prstGeom xmlns:a="http://schemas.openxmlformats.org/drawingml/2006/main" prst="line">
            <a:avLst/>
          </a:prstGeom>
          <a:noFill xmlns:a="http://schemas.openxmlformats.org/drawingml/2006/main"/>
          <a:ln xmlns:a="http://schemas.openxmlformats.org/drawingml/2006/main" w="57150">
            <a:solidFill>
              <a:srgbClr val="C2410C"/>
            </a:solidFill>
            <a:prstDash val="solid"/>
          </a:ln>
        </p:spPr>
      </p:sp>
      <p:sp>
        <p:nvSpPr>
          <p:cNvPr id="26" name="">
            <a:extLst xmlns:a="http://schemas.openxmlformats.org/drawingml/2006/main">
              <a:ext uri="{FF2B5EF4-FFF2-40B4-BE49-F238E27FC236}">
                <a16:creationId xmlns:a16="http://schemas.microsoft.com/office/drawing/2014/main" id="{35E934D5-890E-4B6C-A956-4736F686B9C2}"/>
              </a:ext>
            </a:extLst>
          </p:cNvPr>
          <p:cNvSpPr>
            <a:spLocks xmlns:a="http://schemas.openxmlformats.org/drawingml/2006/main" noGrp="1"/>
          </p:cNvSpPr>
          <p:nvPr/>
        </p:nvSpPr>
        <p:spPr>
          <a:xfrm xmlns:a="http://schemas.openxmlformats.org/drawingml/2006/main">
            <a:off x="6438900" y="49149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475569"/>
                </a:solidFill>
              </a:defRPr>
            </a:pPr>
            <a:r>
              <a:rPr sz="750" b="1">
                <a:solidFill>
                  <a:srgbClr val="475569"/>
                </a:solidFill>
              </a:rPr>
              <a:t>LOWER</a:t>
            </a:r>
          </a:p>
        </p:txBody>
      </p:sp>
      <p:sp>
        <p:nvSpPr>
          <p:cNvPr id="27" name="">
            <a:extLst xmlns:a="http://schemas.openxmlformats.org/drawingml/2006/main">
              <a:ext uri="{FF2B5EF4-FFF2-40B4-BE49-F238E27FC236}">
                <a16:creationId xmlns:a16="http://schemas.microsoft.com/office/drawing/2014/main" id="{28256708-05EC-47E2-992D-CE538605EE8F}"/>
              </a:ext>
            </a:extLst>
          </p:cNvPr>
          <p:cNvSpPr>
            <a:spLocks xmlns:a="http://schemas.openxmlformats.org/drawingml/2006/main" noGrp="1"/>
          </p:cNvSpPr>
          <p:nvPr/>
        </p:nvSpPr>
        <p:spPr>
          <a:xfrm xmlns:a="http://schemas.openxmlformats.org/drawingml/2006/main">
            <a:off x="7867650" y="49149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475569"/>
                </a:solidFill>
              </a:defRPr>
            </a:pPr>
            <a:r>
              <a:rPr sz="750" b="1">
                <a:solidFill>
                  <a:srgbClr val="475569"/>
                </a:solidFill>
              </a:rPr>
              <a:t>HIGHER</a:t>
            </a:r>
          </a:p>
        </p:txBody>
      </p:sp>
      <p:sp>
        <p:nvSpPr>
          <p:cNvPr id="28" name="">
            <a:extLst xmlns:a="http://schemas.openxmlformats.org/drawingml/2006/main">
              <a:ext uri="{FF2B5EF4-FFF2-40B4-BE49-F238E27FC236}">
                <a16:creationId xmlns:a16="http://schemas.microsoft.com/office/drawing/2014/main" id="{CAB4D0AF-23B1-40EF-BE34-B39225928727}"/>
              </a:ext>
            </a:extLst>
          </p:cNvPr>
          <p:cNvSpPr>
            <a:spLocks xmlns:a="http://schemas.openxmlformats.org/drawingml/2006/main" noGrp="1"/>
          </p:cNvSpPr>
          <p:nvPr/>
        </p:nvSpPr>
        <p:spPr>
          <a:xfrm xmlns:a="http://schemas.openxmlformats.org/drawingml/2006/main">
            <a:off x="8858250" y="2190750"/>
            <a:ext cx="2724150" cy="3257550"/>
          </a:xfrm>
          <a:prstGeom xmlns:a="http://schemas.openxmlformats.org/drawingml/2006/main" prst="roundRect">
            <a:avLst>
              <a:gd name="adj" fmla="val 5594"/>
            </a:avLst>
          </a:prstGeom>
          <a:solidFill xmlns:a="http://schemas.openxmlformats.org/drawingml/2006/main">
            <a:srgbClr val="FFFFFF"/>
          </a:solidFill>
          <a:ln xmlns:a="http://schemas.openxmlformats.org/drawingml/2006/main" w="9525">
            <a:solidFill>
              <a:srgbClr val="C2410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ACC15654-F5E5-4D81-B5EA-1BBF0E1B5F18}"/>
              </a:ext>
            </a:extLst>
          </p:cNvPr>
          <p:cNvSpPr>
            <a:spLocks xmlns:a="http://schemas.openxmlformats.org/drawingml/2006/main" noGrp="1"/>
          </p:cNvSpPr>
          <p:nvPr/>
        </p:nvSpPr>
        <p:spPr>
          <a:xfrm xmlns:a="http://schemas.openxmlformats.org/drawingml/2006/main">
            <a:off x="9105900" y="247650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73647"/>
                </a:solidFill>
              </a:defRPr>
            </a:pPr>
            <a:r>
              <a:rPr sz="1575" b="1">
                <a:solidFill>
                  <a:srgbClr val="073647"/>
                </a:solidFill>
              </a:rPr>
              <a:t>Minimum decision record</a:t>
            </a:r>
          </a:p>
        </p:txBody>
      </p:sp>
      <p:sp>
        <p:nvSpPr>
          <p:cNvPr id="30" name="">
            <a:extLst xmlns:a="http://schemas.openxmlformats.org/drawingml/2006/main">
              <a:ext uri="{FF2B5EF4-FFF2-40B4-BE49-F238E27FC236}">
                <a16:creationId xmlns:a16="http://schemas.microsoft.com/office/drawing/2014/main" id="{5BF326B2-DB19-493F-9704-936173289362}"/>
              </a:ext>
            </a:extLst>
          </p:cNvPr>
          <p:cNvSpPr>
            <a:spLocks xmlns:a="http://schemas.openxmlformats.org/drawingml/2006/main" noGrp="1"/>
          </p:cNvSpPr>
          <p:nvPr/>
        </p:nvSpPr>
        <p:spPr>
          <a:xfrm xmlns:a="http://schemas.openxmlformats.org/drawingml/2006/main">
            <a:off x="9105900" y="3181350"/>
            <a:ext cx="21526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0F172A"/>
                </a:solidFill>
              </a:defRPr>
            </a:pPr>
            <a:r>
              <a:rPr sz="1275" b="0">
                <a:solidFill>
                  <a:srgbClr val="0F172A"/>
                </a:solidFill>
              </a:rPr>
              <a:t>• accountable owner</a:t>
            </a:r>
          </a:p>
          <a:p xmlns:a="http://schemas.openxmlformats.org/drawingml/2006/main">
            <a:pPr>
              <a:defRPr sz="1275" b="0">
                <a:solidFill>
                  <a:srgbClr val="0F172A"/>
                </a:solidFill>
              </a:defRPr>
            </a:pPr>
            <a:r>
              <a:rPr sz="1275" b="0">
                <a:solidFill>
                  <a:srgbClr val="0F172A"/>
                </a:solidFill>
              </a:rPr>
              <a:t>• allowed data</a:t>
            </a:r>
          </a:p>
          <a:p xmlns:a="http://schemas.openxmlformats.org/drawingml/2006/main">
            <a:pPr>
              <a:defRPr sz="1275" b="0">
                <a:solidFill>
                  <a:srgbClr val="0F172A"/>
                </a:solidFill>
              </a:defRPr>
            </a:pPr>
            <a:r>
              <a:rPr sz="1275" b="0">
                <a:solidFill>
                  <a:srgbClr val="0F172A"/>
                </a:solidFill>
              </a:rPr>
              <a:t>• human review</a:t>
            </a:r>
          </a:p>
          <a:p xmlns:a="http://schemas.openxmlformats.org/drawingml/2006/main">
            <a:pPr>
              <a:defRPr sz="1275" b="0">
                <a:solidFill>
                  <a:srgbClr val="0F172A"/>
                </a:solidFill>
              </a:defRPr>
            </a:pPr>
            <a:r>
              <a:rPr sz="1275" b="0">
                <a:solidFill>
                  <a:srgbClr val="0F172A"/>
                </a:solidFill>
              </a:rPr>
              <a:t>• monitoring metric</a:t>
            </a:r>
          </a:p>
          <a:p xmlns:a="http://schemas.openxmlformats.org/drawingml/2006/main">
            <a:pPr>
              <a:defRPr sz="1275" b="0">
                <a:solidFill>
                  <a:srgbClr val="0F172A"/>
                </a:solidFill>
              </a:defRPr>
            </a:pPr>
            <a:r>
              <a:rPr sz="1275" b="0">
                <a:solidFill>
                  <a:srgbClr val="0F172A"/>
                </a:solidFill>
              </a:rPr>
              <a:t>• incident route</a:t>
            </a:r>
          </a:p>
          <a:p xmlns:a="http://schemas.openxmlformats.org/drawingml/2006/main">
            <a:pPr>
              <a:defRPr sz="1275" b="0">
                <a:solidFill>
                  <a:srgbClr val="0F172A"/>
                </a:solidFill>
              </a:defRPr>
            </a:pPr>
            <a:r>
              <a:rPr sz="1275" b="0">
                <a:solidFill>
                  <a:srgbClr val="0F172A"/>
                </a:solidFill>
              </a:rPr>
              <a:t>• stop / rollback rule</a:t>
            </a:r>
          </a:p>
        </p:txBody>
      </p:sp>
    </p:spTree>
    <p:extLst>
      <p:ext uri="{BB962C8B-B14F-4D97-AF65-F5344CB8AC3E}">
        <p14:creationId xmlns:p14="http://schemas.microsoft.com/office/powerpoint/2010/main" val="1430257887"/>
      </p:ext>
    </p:extLst>
  </p:cSld>
</p:sld>
</file>

<file path=ppt/slides/slide10.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26B01B-6B93-434F-A347-73D89392648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8546DDE8-E7E5-4926-B3C0-6CD47F3ADFED}"/>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D3E0E3D6-633A-4181-8836-4262E56AB1B6}"/>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TOOL SELECTION</a:t>
            </a:r>
          </a:p>
        </p:txBody>
      </p:sp>
      <p:sp>
        <p:nvSpPr>
          <p:cNvPr id="4" name="slide-title">
            <a:extLst xmlns:a="http://schemas.openxmlformats.org/drawingml/2006/main">
              <a:ext uri="{FF2B5EF4-FFF2-40B4-BE49-F238E27FC236}">
                <a16:creationId xmlns:a16="http://schemas.microsoft.com/office/drawing/2014/main" id="{93E539DF-538E-4A3B-B720-32FFAE0CA4B1}"/>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Choose the workflow first; let supported options cascade</a:t>
            </a:r>
          </a:p>
        </p:txBody>
      </p:sp>
      <p:sp>
        <p:nvSpPr>
          <p:cNvPr id="5" name="slide-subtitle">
            <a:extLst xmlns:a="http://schemas.openxmlformats.org/drawingml/2006/main">
              <a:ext uri="{FF2B5EF4-FFF2-40B4-BE49-F238E27FC236}">
                <a16:creationId xmlns:a16="http://schemas.microsoft.com/office/drawing/2014/main" id="{FA4A2ECE-32C1-49F4-93E3-EF9B81B643E3}"/>
              </a:ext>
            </a:extLst>
          </p:cNvPr>
          <p:cNvSpPr>
            <a:spLocks xmlns:a="http://schemas.openxmlformats.org/drawingml/2006/main" noGrp="1"/>
          </p:cNvSpPr>
          <p:nvPr/>
        </p:nvSpPr>
        <p:spPr>
          <a:xfrm xmlns:a="http://schemas.openxmlformats.org/drawingml/2006/main">
            <a:off x="609600" y="167640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475569"/>
                </a:solidFill>
              </a:defRPr>
            </a:pPr>
            <a:r>
              <a:rPr sz="1350" b="0">
                <a:solidFill>
                  <a:srgbClr val="475569"/>
                </a:solidFill>
              </a:rPr>
              <a:t>The app offers only intersections backed by a complete prompt, dataset, output, verification, and reviewer.</a:t>
            </a:r>
          </a:p>
        </p:txBody>
      </p:sp>
      <p:sp>
        <p:nvSpPr>
          <p:cNvPr id="6" name="slide-number">
            <a:extLst xmlns:a="http://schemas.openxmlformats.org/drawingml/2006/main">
              <a:ext uri="{FF2B5EF4-FFF2-40B4-BE49-F238E27FC236}">
                <a16:creationId xmlns:a16="http://schemas.microsoft.com/office/drawing/2014/main" id="{5BFB6CC8-67FE-491B-84F3-E730FEC33CA5}"/>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10</a:t>
            </a:r>
          </a:p>
        </p:txBody>
      </p:sp>
      <p:sp>
        <p:nvSpPr>
          <p:cNvPr id="7" name="footer-title">
            <a:extLst xmlns:a="http://schemas.openxmlformats.org/drawingml/2006/main">
              <a:ext uri="{FF2B5EF4-FFF2-40B4-BE49-F238E27FC236}">
                <a16:creationId xmlns:a16="http://schemas.microsoft.com/office/drawing/2014/main" id="{484BC86C-FEC4-4FEE-9C4D-3688A1CAE583}"/>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sp>
        <p:nvSpPr>
          <p:cNvPr id="8" name="">
            <a:extLst xmlns:a="http://schemas.openxmlformats.org/drawingml/2006/main">
              <a:ext uri="{FF2B5EF4-FFF2-40B4-BE49-F238E27FC236}">
                <a16:creationId xmlns:a16="http://schemas.microsoft.com/office/drawing/2014/main" id="{8B0254F7-B97A-4C5C-A62B-078D1C3ED115}"/>
              </a:ext>
            </a:extLst>
          </p:cNvPr>
          <p:cNvSpPr>
            <a:spLocks xmlns:a="http://schemas.openxmlformats.org/drawingml/2006/main" noGrp="1"/>
          </p:cNvSpPr>
          <p:nvPr/>
        </p:nvSpPr>
        <p:spPr>
          <a:xfrm xmlns:a="http://schemas.openxmlformats.org/drawingml/2006/main">
            <a:off x="609600" y="2590800"/>
            <a:ext cx="1504950" cy="8382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21DC184-B5DB-4F41-AE99-68F5160DEBAD}"/>
              </a:ext>
            </a:extLst>
          </p:cNvPr>
          <p:cNvSpPr>
            <a:spLocks xmlns:a="http://schemas.openxmlformats.org/drawingml/2006/main" noGrp="1"/>
          </p:cNvSpPr>
          <p:nvPr/>
        </p:nvSpPr>
        <p:spPr>
          <a:xfrm xmlns:a="http://schemas.openxmlformats.org/drawingml/2006/main">
            <a:off x="781050" y="27432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891B2"/>
                </a:solidFill>
              </a:defRPr>
            </a:pPr>
            <a:r>
              <a:rPr sz="1200" b="1">
                <a:solidFill>
                  <a:srgbClr val="0891B2"/>
                </a:solidFill>
              </a:rPr>
              <a:t>1</a:t>
            </a:r>
          </a:p>
        </p:txBody>
      </p:sp>
      <p:sp>
        <p:nvSpPr>
          <p:cNvPr id="10" name="">
            <a:extLst xmlns:a="http://schemas.openxmlformats.org/drawingml/2006/main">
              <a:ext uri="{FF2B5EF4-FFF2-40B4-BE49-F238E27FC236}">
                <a16:creationId xmlns:a16="http://schemas.microsoft.com/office/drawing/2014/main" id="{01149D3B-526B-4CFB-8AB4-20FDC3D5FE63}"/>
              </a:ext>
            </a:extLst>
          </p:cNvPr>
          <p:cNvSpPr>
            <a:spLocks xmlns:a="http://schemas.openxmlformats.org/drawingml/2006/main" noGrp="1"/>
          </p:cNvSpPr>
          <p:nvPr/>
        </p:nvSpPr>
        <p:spPr>
          <a:xfrm xmlns:a="http://schemas.openxmlformats.org/drawingml/2006/main">
            <a:off x="781050" y="30861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73647"/>
                </a:solidFill>
              </a:defRPr>
            </a:pPr>
            <a:r>
              <a:rPr sz="1275" b="1">
                <a:solidFill>
                  <a:srgbClr val="073647"/>
                </a:solidFill>
              </a:rPr>
              <a:t>Pillar</a:t>
            </a:r>
          </a:p>
        </p:txBody>
      </p:sp>
      <p:sp>
        <p:nvSpPr>
          <p:cNvPr id="11" name="">
            <a:extLst xmlns:a="http://schemas.openxmlformats.org/drawingml/2006/main">
              <a:ext uri="{FF2B5EF4-FFF2-40B4-BE49-F238E27FC236}">
                <a16:creationId xmlns:a16="http://schemas.microsoft.com/office/drawing/2014/main" id="{72A8A8EA-9823-4899-BFB5-1593198A1BA8}"/>
              </a:ext>
            </a:extLst>
          </p:cNvPr>
          <p:cNvSpPr>
            <a:spLocks xmlns:a="http://schemas.openxmlformats.org/drawingml/2006/main" noGrp="1"/>
          </p:cNvSpPr>
          <p:nvPr/>
        </p:nvSpPr>
        <p:spPr>
          <a:xfrm xmlns:a="http://schemas.openxmlformats.org/drawingml/2006/main">
            <a:off x="2114550" y="2876550"/>
            <a:ext cx="266700" cy="266700"/>
          </a:xfrm>
          <a:prstGeom xmlns:a="http://schemas.openxmlformats.org/drawingml/2006/main" prst="rightArrow">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9114B959-8B06-4FD9-96F6-245143C6A152}"/>
              </a:ext>
            </a:extLst>
          </p:cNvPr>
          <p:cNvSpPr>
            <a:spLocks xmlns:a="http://schemas.openxmlformats.org/drawingml/2006/main" noGrp="1"/>
          </p:cNvSpPr>
          <p:nvPr/>
        </p:nvSpPr>
        <p:spPr>
          <a:xfrm xmlns:a="http://schemas.openxmlformats.org/drawingml/2006/main">
            <a:off x="2371725" y="2590800"/>
            <a:ext cx="1504950" cy="8382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63B9524F-45EA-4438-9D44-EFD5AE145A45}"/>
              </a:ext>
            </a:extLst>
          </p:cNvPr>
          <p:cNvSpPr>
            <a:spLocks xmlns:a="http://schemas.openxmlformats.org/drawingml/2006/main" noGrp="1"/>
          </p:cNvSpPr>
          <p:nvPr/>
        </p:nvSpPr>
        <p:spPr>
          <a:xfrm xmlns:a="http://schemas.openxmlformats.org/drawingml/2006/main">
            <a:off x="2543175" y="27432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891B2"/>
                </a:solidFill>
              </a:defRPr>
            </a:pPr>
            <a:r>
              <a:rPr sz="1200" b="1">
                <a:solidFill>
                  <a:srgbClr val="0891B2"/>
                </a:solidFill>
              </a:rPr>
              <a:t>2</a:t>
            </a:r>
          </a:p>
        </p:txBody>
      </p:sp>
      <p:sp>
        <p:nvSpPr>
          <p:cNvPr id="14" name="">
            <a:extLst xmlns:a="http://schemas.openxmlformats.org/drawingml/2006/main">
              <a:ext uri="{FF2B5EF4-FFF2-40B4-BE49-F238E27FC236}">
                <a16:creationId xmlns:a16="http://schemas.microsoft.com/office/drawing/2014/main" id="{A3674042-91F6-4E04-B599-FD25CE180A08}"/>
              </a:ext>
            </a:extLst>
          </p:cNvPr>
          <p:cNvSpPr>
            <a:spLocks xmlns:a="http://schemas.openxmlformats.org/drawingml/2006/main" noGrp="1"/>
          </p:cNvSpPr>
          <p:nvPr/>
        </p:nvSpPr>
        <p:spPr>
          <a:xfrm xmlns:a="http://schemas.openxmlformats.org/drawingml/2006/main">
            <a:off x="2543175" y="30861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73647"/>
                </a:solidFill>
              </a:defRPr>
            </a:pPr>
            <a:r>
              <a:rPr sz="1275" b="1">
                <a:solidFill>
                  <a:srgbClr val="073647"/>
                </a:solidFill>
              </a:rPr>
              <a:t>Role</a:t>
            </a:r>
          </a:p>
        </p:txBody>
      </p:sp>
      <p:sp>
        <p:nvSpPr>
          <p:cNvPr id="15" name="">
            <a:extLst xmlns:a="http://schemas.openxmlformats.org/drawingml/2006/main">
              <a:ext uri="{FF2B5EF4-FFF2-40B4-BE49-F238E27FC236}">
                <a16:creationId xmlns:a16="http://schemas.microsoft.com/office/drawing/2014/main" id="{80BA388D-2575-4FF9-90FB-F5A20A7C1E9B}"/>
              </a:ext>
            </a:extLst>
          </p:cNvPr>
          <p:cNvSpPr>
            <a:spLocks xmlns:a="http://schemas.openxmlformats.org/drawingml/2006/main" noGrp="1"/>
          </p:cNvSpPr>
          <p:nvPr/>
        </p:nvSpPr>
        <p:spPr>
          <a:xfrm xmlns:a="http://schemas.openxmlformats.org/drawingml/2006/main">
            <a:off x="3876675" y="2876550"/>
            <a:ext cx="266700" cy="266700"/>
          </a:xfrm>
          <a:prstGeom xmlns:a="http://schemas.openxmlformats.org/drawingml/2006/main" prst="rightArrow">
            <a:avLst/>
          </a:prstGeom>
          <a:solidFill xmlns:a="http://schemas.openxmlformats.org/drawingml/2006/main">
            <a:srgbClr val="0F766E"/>
          </a:solidFill>
          <a:ln xmlns:a="http://schemas.openxmlformats.org/drawingml/2006/main" w="0">
            <a:solidFill>
              <a:srgbClr val="0F766E"/>
            </a:solidFill>
            <a:prstDash val="solid"/>
          </a:ln>
        </p:spPr>
      </p:sp>
      <p:sp>
        <p:nvSpPr>
          <p:cNvPr id="16" name="">
            <a:extLst xmlns:a="http://schemas.openxmlformats.org/drawingml/2006/main">
              <a:ext uri="{FF2B5EF4-FFF2-40B4-BE49-F238E27FC236}">
                <a16:creationId xmlns:a16="http://schemas.microsoft.com/office/drawing/2014/main" id="{497EDD06-E3DF-49EC-9913-CEE277798EE5}"/>
              </a:ext>
            </a:extLst>
          </p:cNvPr>
          <p:cNvSpPr>
            <a:spLocks xmlns:a="http://schemas.openxmlformats.org/drawingml/2006/main" noGrp="1"/>
          </p:cNvSpPr>
          <p:nvPr/>
        </p:nvSpPr>
        <p:spPr>
          <a:xfrm xmlns:a="http://schemas.openxmlformats.org/drawingml/2006/main">
            <a:off x="4133850" y="2590800"/>
            <a:ext cx="1504950" cy="8382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A7F3B848-EB16-4BBE-80B8-503006B86603}"/>
              </a:ext>
            </a:extLst>
          </p:cNvPr>
          <p:cNvSpPr>
            <a:spLocks xmlns:a="http://schemas.openxmlformats.org/drawingml/2006/main" noGrp="1"/>
          </p:cNvSpPr>
          <p:nvPr/>
        </p:nvSpPr>
        <p:spPr>
          <a:xfrm xmlns:a="http://schemas.openxmlformats.org/drawingml/2006/main">
            <a:off x="4305300" y="27432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891B2"/>
                </a:solidFill>
              </a:defRPr>
            </a:pPr>
            <a:r>
              <a:rPr sz="1200" b="1">
                <a:solidFill>
                  <a:srgbClr val="0891B2"/>
                </a:solidFill>
              </a:rPr>
              <a:t>3</a:t>
            </a:r>
          </a:p>
        </p:txBody>
      </p:sp>
      <p:sp>
        <p:nvSpPr>
          <p:cNvPr id="18" name="">
            <a:extLst xmlns:a="http://schemas.openxmlformats.org/drawingml/2006/main">
              <a:ext uri="{FF2B5EF4-FFF2-40B4-BE49-F238E27FC236}">
                <a16:creationId xmlns:a16="http://schemas.microsoft.com/office/drawing/2014/main" id="{35F339CC-ED8D-4EC9-80F6-BB08453A20F8}"/>
              </a:ext>
            </a:extLst>
          </p:cNvPr>
          <p:cNvSpPr>
            <a:spLocks xmlns:a="http://schemas.openxmlformats.org/drawingml/2006/main" noGrp="1"/>
          </p:cNvSpPr>
          <p:nvPr/>
        </p:nvSpPr>
        <p:spPr>
          <a:xfrm xmlns:a="http://schemas.openxmlformats.org/drawingml/2006/main">
            <a:off x="4305300" y="30861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73647"/>
                </a:solidFill>
              </a:defRPr>
            </a:pPr>
            <a:r>
              <a:rPr sz="1275" b="1">
                <a:solidFill>
                  <a:srgbClr val="073647"/>
                </a:solidFill>
              </a:rPr>
              <a:t>Task</a:t>
            </a:r>
          </a:p>
        </p:txBody>
      </p:sp>
      <p:sp>
        <p:nvSpPr>
          <p:cNvPr id="19" name="">
            <a:extLst xmlns:a="http://schemas.openxmlformats.org/drawingml/2006/main">
              <a:ext uri="{FF2B5EF4-FFF2-40B4-BE49-F238E27FC236}">
                <a16:creationId xmlns:a16="http://schemas.microsoft.com/office/drawing/2014/main" id="{1ED9DEE2-22A8-409F-98EF-8D69105C77FE}"/>
              </a:ext>
            </a:extLst>
          </p:cNvPr>
          <p:cNvSpPr>
            <a:spLocks xmlns:a="http://schemas.openxmlformats.org/drawingml/2006/main" noGrp="1"/>
          </p:cNvSpPr>
          <p:nvPr/>
        </p:nvSpPr>
        <p:spPr>
          <a:xfrm xmlns:a="http://schemas.openxmlformats.org/drawingml/2006/main">
            <a:off x="5638800" y="2876550"/>
            <a:ext cx="266700" cy="266700"/>
          </a:xfrm>
          <a:prstGeom xmlns:a="http://schemas.openxmlformats.org/drawingml/2006/main" prst="rightArrow">
            <a:avLst/>
          </a:prstGeom>
          <a:solidFill xmlns:a="http://schemas.openxmlformats.org/drawingml/2006/main">
            <a:srgbClr val="0F766E"/>
          </a:solidFill>
          <a:ln xmlns:a="http://schemas.openxmlformats.org/drawingml/2006/main" w="0">
            <a:solidFill>
              <a:srgbClr val="0F766E"/>
            </a:solidFill>
            <a:prstDash val="solid"/>
          </a:ln>
        </p:spPr>
      </p:sp>
      <p:sp>
        <p:nvSpPr>
          <p:cNvPr id="20" name="">
            <a:extLst xmlns:a="http://schemas.openxmlformats.org/drawingml/2006/main">
              <a:ext uri="{FF2B5EF4-FFF2-40B4-BE49-F238E27FC236}">
                <a16:creationId xmlns:a16="http://schemas.microsoft.com/office/drawing/2014/main" id="{1EB126E8-F79F-4E84-A6FD-9F96E4776C10}"/>
              </a:ext>
            </a:extLst>
          </p:cNvPr>
          <p:cNvSpPr>
            <a:spLocks xmlns:a="http://schemas.openxmlformats.org/drawingml/2006/main" noGrp="1"/>
          </p:cNvSpPr>
          <p:nvPr/>
        </p:nvSpPr>
        <p:spPr>
          <a:xfrm xmlns:a="http://schemas.openxmlformats.org/drawingml/2006/main">
            <a:off x="5895975" y="2590800"/>
            <a:ext cx="1504950" cy="8382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3ADFF3DE-B379-4E36-A538-0E21EB4D0214}"/>
              </a:ext>
            </a:extLst>
          </p:cNvPr>
          <p:cNvSpPr>
            <a:spLocks xmlns:a="http://schemas.openxmlformats.org/drawingml/2006/main" noGrp="1"/>
          </p:cNvSpPr>
          <p:nvPr/>
        </p:nvSpPr>
        <p:spPr>
          <a:xfrm xmlns:a="http://schemas.openxmlformats.org/drawingml/2006/main">
            <a:off x="6067425" y="27432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891B2"/>
                </a:solidFill>
              </a:defRPr>
            </a:pPr>
            <a:r>
              <a:rPr sz="1200" b="1">
                <a:solidFill>
                  <a:srgbClr val="0891B2"/>
                </a:solidFill>
              </a:rPr>
              <a:t>4</a:t>
            </a:r>
          </a:p>
        </p:txBody>
      </p:sp>
      <p:sp>
        <p:nvSpPr>
          <p:cNvPr id="22" name="">
            <a:extLst xmlns:a="http://schemas.openxmlformats.org/drawingml/2006/main">
              <a:ext uri="{FF2B5EF4-FFF2-40B4-BE49-F238E27FC236}">
                <a16:creationId xmlns:a16="http://schemas.microsoft.com/office/drawing/2014/main" id="{3F7D8972-3225-4831-B3A7-41C3CBA58B1B}"/>
              </a:ext>
            </a:extLst>
          </p:cNvPr>
          <p:cNvSpPr>
            <a:spLocks xmlns:a="http://schemas.openxmlformats.org/drawingml/2006/main" noGrp="1"/>
          </p:cNvSpPr>
          <p:nvPr/>
        </p:nvSpPr>
        <p:spPr>
          <a:xfrm xmlns:a="http://schemas.openxmlformats.org/drawingml/2006/main">
            <a:off x="6067425" y="30861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73647"/>
                </a:solidFill>
              </a:defRPr>
            </a:pPr>
            <a:r>
              <a:rPr sz="1275" b="1">
                <a:solidFill>
                  <a:srgbClr val="073647"/>
                </a:solidFill>
              </a:rPr>
              <a:t>Input</a:t>
            </a:r>
          </a:p>
        </p:txBody>
      </p:sp>
      <p:sp>
        <p:nvSpPr>
          <p:cNvPr id="23" name="">
            <a:extLst xmlns:a="http://schemas.openxmlformats.org/drawingml/2006/main">
              <a:ext uri="{FF2B5EF4-FFF2-40B4-BE49-F238E27FC236}">
                <a16:creationId xmlns:a16="http://schemas.microsoft.com/office/drawing/2014/main" id="{17CF7005-3AAC-41BE-8CE4-CEC865A5446C}"/>
              </a:ext>
            </a:extLst>
          </p:cNvPr>
          <p:cNvSpPr>
            <a:spLocks xmlns:a="http://schemas.openxmlformats.org/drawingml/2006/main" noGrp="1"/>
          </p:cNvSpPr>
          <p:nvPr/>
        </p:nvSpPr>
        <p:spPr>
          <a:xfrm xmlns:a="http://schemas.openxmlformats.org/drawingml/2006/main">
            <a:off x="7400925" y="2876550"/>
            <a:ext cx="266700" cy="266700"/>
          </a:xfrm>
          <a:prstGeom xmlns:a="http://schemas.openxmlformats.org/drawingml/2006/main" prst="rightArrow">
            <a:avLst/>
          </a:prstGeom>
          <a:solidFill xmlns:a="http://schemas.openxmlformats.org/drawingml/2006/main">
            <a:srgbClr val="0F766E"/>
          </a:solidFill>
          <a:ln xmlns:a="http://schemas.openxmlformats.org/drawingml/2006/main" w="0">
            <a:solidFill>
              <a:srgbClr val="0F766E"/>
            </a:solidFill>
            <a:prstDash val="solid"/>
          </a:ln>
        </p:spPr>
      </p:sp>
      <p:sp>
        <p:nvSpPr>
          <p:cNvPr id="24" name="">
            <a:extLst xmlns:a="http://schemas.openxmlformats.org/drawingml/2006/main">
              <a:ext uri="{FF2B5EF4-FFF2-40B4-BE49-F238E27FC236}">
                <a16:creationId xmlns:a16="http://schemas.microsoft.com/office/drawing/2014/main" id="{C7C88BF5-9B94-4F9E-9151-F6FE7554AA0C}"/>
              </a:ext>
            </a:extLst>
          </p:cNvPr>
          <p:cNvSpPr>
            <a:spLocks xmlns:a="http://schemas.openxmlformats.org/drawingml/2006/main" noGrp="1"/>
          </p:cNvSpPr>
          <p:nvPr/>
        </p:nvSpPr>
        <p:spPr>
          <a:xfrm xmlns:a="http://schemas.openxmlformats.org/drawingml/2006/main">
            <a:off x="7658100" y="2590800"/>
            <a:ext cx="1504950" cy="8382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5045E8DC-EEFC-4ACC-BF3D-4166AF1EA378}"/>
              </a:ext>
            </a:extLst>
          </p:cNvPr>
          <p:cNvSpPr>
            <a:spLocks xmlns:a="http://schemas.openxmlformats.org/drawingml/2006/main" noGrp="1"/>
          </p:cNvSpPr>
          <p:nvPr/>
        </p:nvSpPr>
        <p:spPr>
          <a:xfrm xmlns:a="http://schemas.openxmlformats.org/drawingml/2006/main">
            <a:off x="7829550" y="27432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891B2"/>
                </a:solidFill>
              </a:defRPr>
            </a:pPr>
            <a:r>
              <a:rPr sz="1200" b="1">
                <a:solidFill>
                  <a:srgbClr val="0891B2"/>
                </a:solidFill>
              </a:rPr>
              <a:t>5</a:t>
            </a:r>
          </a:p>
        </p:txBody>
      </p:sp>
      <p:sp>
        <p:nvSpPr>
          <p:cNvPr id="26" name="">
            <a:extLst xmlns:a="http://schemas.openxmlformats.org/drawingml/2006/main">
              <a:ext uri="{FF2B5EF4-FFF2-40B4-BE49-F238E27FC236}">
                <a16:creationId xmlns:a16="http://schemas.microsoft.com/office/drawing/2014/main" id="{CB5D8B1C-B86E-4799-8F49-2D725329E2DE}"/>
              </a:ext>
            </a:extLst>
          </p:cNvPr>
          <p:cNvSpPr>
            <a:spLocks xmlns:a="http://schemas.openxmlformats.org/drawingml/2006/main" noGrp="1"/>
          </p:cNvSpPr>
          <p:nvPr/>
        </p:nvSpPr>
        <p:spPr>
          <a:xfrm xmlns:a="http://schemas.openxmlformats.org/drawingml/2006/main">
            <a:off x="7829550" y="30861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73647"/>
                </a:solidFill>
              </a:defRPr>
            </a:pPr>
            <a:r>
              <a:rPr sz="1275" b="1">
                <a:solidFill>
                  <a:srgbClr val="073647"/>
                </a:solidFill>
              </a:rPr>
              <a:t>Language</a:t>
            </a:r>
          </a:p>
        </p:txBody>
      </p:sp>
      <p:sp>
        <p:nvSpPr>
          <p:cNvPr id="27" name="">
            <a:extLst xmlns:a="http://schemas.openxmlformats.org/drawingml/2006/main">
              <a:ext uri="{FF2B5EF4-FFF2-40B4-BE49-F238E27FC236}">
                <a16:creationId xmlns:a16="http://schemas.microsoft.com/office/drawing/2014/main" id="{DC3EFE31-11F9-413C-8FE2-A1B50D8D4540}"/>
              </a:ext>
            </a:extLst>
          </p:cNvPr>
          <p:cNvSpPr>
            <a:spLocks xmlns:a="http://schemas.openxmlformats.org/drawingml/2006/main" noGrp="1"/>
          </p:cNvSpPr>
          <p:nvPr/>
        </p:nvSpPr>
        <p:spPr>
          <a:xfrm xmlns:a="http://schemas.openxmlformats.org/drawingml/2006/main">
            <a:off x="9163050" y="2876550"/>
            <a:ext cx="266700" cy="266700"/>
          </a:xfrm>
          <a:prstGeom xmlns:a="http://schemas.openxmlformats.org/drawingml/2006/main" prst="rightArrow">
            <a:avLst/>
          </a:prstGeom>
          <a:solidFill xmlns:a="http://schemas.openxmlformats.org/drawingml/2006/main">
            <a:srgbClr val="0F766E"/>
          </a:solidFill>
          <a:ln xmlns:a="http://schemas.openxmlformats.org/drawingml/2006/main" w="0">
            <a:solidFill>
              <a:srgbClr val="0F766E"/>
            </a:solidFill>
            <a:prstDash val="solid"/>
          </a:ln>
        </p:spPr>
      </p:sp>
      <p:sp>
        <p:nvSpPr>
          <p:cNvPr id="28" name="">
            <a:extLst xmlns:a="http://schemas.openxmlformats.org/drawingml/2006/main">
              <a:ext uri="{FF2B5EF4-FFF2-40B4-BE49-F238E27FC236}">
                <a16:creationId xmlns:a16="http://schemas.microsoft.com/office/drawing/2014/main" id="{ACFEACBA-A9C4-4A62-8108-22959FD73DD5}"/>
              </a:ext>
            </a:extLst>
          </p:cNvPr>
          <p:cNvSpPr>
            <a:spLocks xmlns:a="http://schemas.openxmlformats.org/drawingml/2006/main" noGrp="1"/>
          </p:cNvSpPr>
          <p:nvPr/>
        </p:nvSpPr>
        <p:spPr>
          <a:xfrm xmlns:a="http://schemas.openxmlformats.org/drawingml/2006/main">
            <a:off x="9420225" y="2590800"/>
            <a:ext cx="1504950" cy="838200"/>
          </a:xfrm>
          <a:prstGeom xmlns:a="http://schemas.openxmlformats.org/drawingml/2006/main" prst="roundRect">
            <a:avLst>
              <a:gd name="adj" fmla="val 18182"/>
            </a:avLst>
          </a:prstGeom>
          <a:solidFill xmlns:a="http://schemas.openxmlformats.org/drawingml/2006/main">
            <a:srgbClr val="ECFDF5"/>
          </a:solidFill>
          <a:ln xmlns:a="http://schemas.openxmlformats.org/drawingml/2006/main" w="9525">
            <a:solidFill>
              <a:srgbClr val="0F766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34CB8A7B-F5FD-42C7-A7A2-9BD79E7752CF}"/>
              </a:ext>
            </a:extLst>
          </p:cNvPr>
          <p:cNvSpPr>
            <a:spLocks xmlns:a="http://schemas.openxmlformats.org/drawingml/2006/main" noGrp="1"/>
          </p:cNvSpPr>
          <p:nvPr/>
        </p:nvSpPr>
        <p:spPr>
          <a:xfrm xmlns:a="http://schemas.openxmlformats.org/drawingml/2006/main">
            <a:off x="9591675" y="27432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F766E"/>
                </a:solidFill>
              </a:defRPr>
            </a:pPr>
            <a:r>
              <a:rPr sz="1200" b="1">
                <a:solidFill>
                  <a:srgbClr val="0F766E"/>
                </a:solidFill>
              </a:rPr>
              <a:t>6</a:t>
            </a:r>
          </a:p>
        </p:txBody>
      </p:sp>
      <p:sp>
        <p:nvSpPr>
          <p:cNvPr id="30" name="">
            <a:extLst xmlns:a="http://schemas.openxmlformats.org/drawingml/2006/main">
              <a:ext uri="{FF2B5EF4-FFF2-40B4-BE49-F238E27FC236}">
                <a16:creationId xmlns:a16="http://schemas.microsoft.com/office/drawing/2014/main" id="{BB2107A4-C7A6-4F68-920D-2586CFFB55AE}"/>
              </a:ext>
            </a:extLst>
          </p:cNvPr>
          <p:cNvSpPr>
            <a:spLocks xmlns:a="http://schemas.openxmlformats.org/drawingml/2006/main" noGrp="1"/>
          </p:cNvSpPr>
          <p:nvPr/>
        </p:nvSpPr>
        <p:spPr>
          <a:xfrm xmlns:a="http://schemas.openxmlformats.org/drawingml/2006/main">
            <a:off x="9591675" y="30861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073647"/>
                </a:solidFill>
              </a:defRPr>
            </a:pPr>
            <a:r>
              <a:rPr sz="1275" b="1">
                <a:solidFill>
                  <a:srgbClr val="073647"/>
                </a:solidFill>
              </a:rPr>
              <a:t>Workflow</a:t>
            </a:r>
          </a:p>
        </p:txBody>
      </p:sp>
      <p:sp>
        <p:nvSpPr>
          <p:cNvPr id="31" name="">
            <a:extLst xmlns:a="http://schemas.openxmlformats.org/drawingml/2006/main">
              <a:ext uri="{FF2B5EF4-FFF2-40B4-BE49-F238E27FC236}">
                <a16:creationId xmlns:a16="http://schemas.microsoft.com/office/drawing/2014/main" id="{A9D02C62-6FF3-474F-ACCA-0C1CC87E3795}"/>
              </a:ext>
            </a:extLst>
          </p:cNvPr>
          <p:cNvSpPr>
            <a:spLocks xmlns:a="http://schemas.openxmlformats.org/drawingml/2006/main" noGrp="1"/>
          </p:cNvSpPr>
          <p:nvPr/>
        </p:nvSpPr>
        <p:spPr>
          <a:xfrm xmlns:a="http://schemas.openxmlformats.org/drawingml/2006/main">
            <a:off x="609600" y="3943350"/>
            <a:ext cx="125730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DATA FIT</a:t>
            </a:r>
          </a:p>
        </p:txBody>
      </p:sp>
      <p:sp>
        <p:nvSpPr>
          <p:cNvPr id="32" name="">
            <a:extLst xmlns:a="http://schemas.openxmlformats.org/drawingml/2006/main">
              <a:ext uri="{FF2B5EF4-FFF2-40B4-BE49-F238E27FC236}">
                <a16:creationId xmlns:a16="http://schemas.microsoft.com/office/drawing/2014/main" id="{0883DA62-B407-49BD-83AA-D6E7A0DB1FC9}"/>
              </a:ext>
            </a:extLst>
          </p:cNvPr>
          <p:cNvSpPr>
            <a:spLocks xmlns:a="http://schemas.openxmlformats.org/drawingml/2006/main" noGrp="1"/>
          </p:cNvSpPr>
          <p:nvPr/>
        </p:nvSpPr>
        <p:spPr>
          <a:xfrm xmlns:a="http://schemas.openxmlformats.org/drawingml/2006/main">
            <a:off x="2038350" y="390525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Can this account and workflow process the intended data?</a:t>
            </a:r>
          </a:p>
        </p:txBody>
      </p:sp>
      <p:sp>
        <p:nvSpPr>
          <p:cNvPr id="33" name="">
            <a:extLst xmlns:a="http://schemas.openxmlformats.org/drawingml/2006/main">
              <a:ext uri="{FF2B5EF4-FFF2-40B4-BE49-F238E27FC236}">
                <a16:creationId xmlns:a16="http://schemas.microsoft.com/office/drawing/2014/main" id="{DC0A03B2-CD18-4124-AC54-5F42438B91C6}"/>
              </a:ext>
            </a:extLst>
          </p:cNvPr>
          <p:cNvSpPr>
            <a:spLocks xmlns:a="http://schemas.openxmlformats.org/drawingml/2006/main" noGrp="1"/>
          </p:cNvSpPr>
          <p:nvPr/>
        </p:nvSpPr>
        <p:spPr>
          <a:xfrm xmlns:a="http://schemas.openxmlformats.org/drawingml/2006/main">
            <a:off x="6096000" y="3943350"/>
            <a:ext cx="1257300" cy="3048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9525">
            <a:solidFill>
              <a:srgbClr val="4F46E5"/>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CAPABILITY</a:t>
            </a:r>
          </a:p>
        </p:txBody>
      </p:sp>
      <p:sp>
        <p:nvSpPr>
          <p:cNvPr id="34" name="">
            <a:extLst xmlns:a="http://schemas.openxmlformats.org/drawingml/2006/main">
              <a:ext uri="{FF2B5EF4-FFF2-40B4-BE49-F238E27FC236}">
                <a16:creationId xmlns:a16="http://schemas.microsoft.com/office/drawing/2014/main" id="{A7B56450-53C2-4F14-9FF7-1416091FBCFB}"/>
              </a:ext>
            </a:extLst>
          </p:cNvPr>
          <p:cNvSpPr>
            <a:spLocks xmlns:a="http://schemas.openxmlformats.org/drawingml/2006/main" noGrp="1"/>
          </p:cNvSpPr>
          <p:nvPr/>
        </p:nvSpPr>
        <p:spPr>
          <a:xfrm xmlns:a="http://schemas.openxmlformats.org/drawingml/2006/main">
            <a:off x="7524750" y="390525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Does the tool support the input and output—and with what limitations?</a:t>
            </a:r>
          </a:p>
        </p:txBody>
      </p:sp>
      <p:sp>
        <p:nvSpPr>
          <p:cNvPr id="35" name="">
            <a:extLst xmlns:a="http://schemas.openxmlformats.org/drawingml/2006/main">
              <a:ext uri="{FF2B5EF4-FFF2-40B4-BE49-F238E27FC236}">
                <a16:creationId xmlns:a16="http://schemas.microsoft.com/office/drawing/2014/main" id="{A38BA4D0-3C4A-44D3-84BC-A8E4E8E2ED0D}"/>
              </a:ext>
            </a:extLst>
          </p:cNvPr>
          <p:cNvSpPr>
            <a:spLocks xmlns:a="http://schemas.openxmlformats.org/drawingml/2006/main" noGrp="1"/>
          </p:cNvSpPr>
          <p:nvPr/>
        </p:nvSpPr>
        <p:spPr>
          <a:xfrm xmlns:a="http://schemas.openxmlformats.org/drawingml/2006/main">
            <a:off x="609600" y="4914900"/>
            <a:ext cx="125730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EVIDENCE</a:t>
            </a:r>
          </a:p>
        </p:txBody>
      </p:sp>
      <p:sp>
        <p:nvSpPr>
          <p:cNvPr id="36" name="">
            <a:extLst xmlns:a="http://schemas.openxmlformats.org/drawingml/2006/main">
              <a:ext uri="{FF2B5EF4-FFF2-40B4-BE49-F238E27FC236}">
                <a16:creationId xmlns:a16="http://schemas.microsoft.com/office/drawing/2014/main" id="{0DA0C36A-1844-4F40-970D-051BE63E34F0}"/>
              </a:ext>
            </a:extLst>
          </p:cNvPr>
          <p:cNvSpPr>
            <a:spLocks xmlns:a="http://schemas.openxmlformats.org/drawingml/2006/main" noGrp="1"/>
          </p:cNvSpPr>
          <p:nvPr/>
        </p:nvSpPr>
        <p:spPr>
          <a:xfrm xmlns:a="http://schemas.openxmlformats.org/drawingml/2006/main">
            <a:off x="2038350" y="487680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Can claims and citations be opened, traced, and checked?</a:t>
            </a:r>
          </a:p>
        </p:txBody>
      </p:sp>
      <p:sp>
        <p:nvSpPr>
          <p:cNvPr id="37" name="">
            <a:extLst xmlns:a="http://schemas.openxmlformats.org/drawingml/2006/main">
              <a:ext uri="{FF2B5EF4-FFF2-40B4-BE49-F238E27FC236}">
                <a16:creationId xmlns:a16="http://schemas.microsoft.com/office/drawing/2014/main" id="{C5216096-F8DC-4ED2-BF14-D6AA76185D46}"/>
              </a:ext>
            </a:extLst>
          </p:cNvPr>
          <p:cNvSpPr>
            <a:spLocks xmlns:a="http://schemas.openxmlformats.org/drawingml/2006/main" noGrp="1"/>
          </p:cNvSpPr>
          <p:nvPr/>
        </p:nvSpPr>
        <p:spPr>
          <a:xfrm xmlns:a="http://schemas.openxmlformats.org/drawingml/2006/main">
            <a:off x="6096000" y="4914900"/>
            <a:ext cx="1257300" cy="3048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9525">
            <a:solidFill>
              <a:srgbClr val="4F46E5"/>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HUMAN FIT</a:t>
            </a:r>
          </a:p>
        </p:txBody>
      </p:sp>
      <p:sp>
        <p:nvSpPr>
          <p:cNvPr id="38" name="">
            <a:extLst xmlns:a="http://schemas.openxmlformats.org/drawingml/2006/main">
              <a:ext uri="{FF2B5EF4-FFF2-40B4-BE49-F238E27FC236}">
                <a16:creationId xmlns:a16="http://schemas.microsoft.com/office/drawing/2014/main" id="{9EF845B1-CCE6-4109-85D8-FA5BBF779362}"/>
              </a:ext>
            </a:extLst>
          </p:cNvPr>
          <p:cNvSpPr>
            <a:spLocks xmlns:a="http://schemas.openxmlformats.org/drawingml/2006/main" noGrp="1"/>
          </p:cNvSpPr>
          <p:nvPr/>
        </p:nvSpPr>
        <p:spPr>
          <a:xfrm xmlns:a="http://schemas.openxmlformats.org/drawingml/2006/main">
            <a:off x="7524750" y="487680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Who reviews, what gets escalated, and what stops the workflow?</a:t>
            </a:r>
          </a:p>
        </p:txBody>
      </p:sp>
    </p:spTree>
    <p:extLst>
      <p:ext uri="{BB962C8B-B14F-4D97-AF65-F5344CB8AC3E}">
        <p14:creationId xmlns:p14="http://schemas.microsoft.com/office/powerpoint/2010/main" val="1882076248"/>
      </p:ext>
    </p:extLst>
  </p:cSld>
</p:sld>
</file>

<file path=ppt/slides/slide1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096747-7C1D-467F-820A-6CC4E897DFB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06D98836-43CC-4E75-9BE8-2AE7E8C5020E}"/>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11BBD704-2374-40F6-B4CA-294E20F4005D}"/>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HANDS-ON</a:t>
            </a:r>
          </a:p>
        </p:txBody>
      </p:sp>
      <p:sp>
        <p:nvSpPr>
          <p:cNvPr id="4" name="slide-title">
            <a:extLst xmlns:a="http://schemas.openxmlformats.org/drawingml/2006/main">
              <a:ext uri="{FF2B5EF4-FFF2-40B4-BE49-F238E27FC236}">
                <a16:creationId xmlns:a16="http://schemas.microsoft.com/office/drawing/2014/main" id="{A35738F6-CD08-4DB2-A5ED-A9BCC3B41510}"/>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90 minutes: six medical and pharma exercises</a:t>
            </a:r>
          </a:p>
        </p:txBody>
      </p:sp>
      <p:sp>
        <p:nvSpPr>
          <p:cNvPr id="5" name="slide-subtitle">
            <a:extLst xmlns:a="http://schemas.openxmlformats.org/drawingml/2006/main">
              <a:ext uri="{FF2B5EF4-FFF2-40B4-BE49-F238E27FC236}">
                <a16:creationId xmlns:a16="http://schemas.microsoft.com/office/drawing/2014/main" id="{11045B8F-1542-4569-BFE7-FE5890CF49E2}"/>
              </a:ext>
            </a:extLst>
          </p:cNvPr>
          <p:cNvSpPr>
            <a:spLocks xmlns:a="http://schemas.openxmlformats.org/drawingml/2006/main" noGrp="1"/>
          </p:cNvSpPr>
          <p:nvPr/>
        </p:nvSpPr>
        <p:spPr>
          <a:xfrm xmlns:a="http://schemas.openxmlformats.org/drawingml/2006/main">
            <a:off x="609600" y="167640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475569"/>
                </a:solidFill>
              </a:defRPr>
            </a:pPr>
            <a:r>
              <a:rPr sz="1350" b="0">
                <a:solidFill>
                  <a:srgbClr val="475569"/>
                </a:solidFill>
              </a:rPr>
              <a:t>For every lab: 3 min orient • 6 min run • 4 min verify • 2 min decide.</a:t>
            </a:r>
          </a:p>
        </p:txBody>
      </p:sp>
      <p:sp>
        <p:nvSpPr>
          <p:cNvPr id="6" name="slide-number">
            <a:extLst xmlns:a="http://schemas.openxmlformats.org/drawingml/2006/main">
              <a:ext uri="{FF2B5EF4-FFF2-40B4-BE49-F238E27FC236}">
                <a16:creationId xmlns:a16="http://schemas.microsoft.com/office/drawing/2014/main" id="{A966BB27-4C98-485E-B29C-6BB21B63EB84}"/>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11</a:t>
            </a:r>
          </a:p>
        </p:txBody>
      </p:sp>
      <p:sp>
        <p:nvSpPr>
          <p:cNvPr id="7" name="footer-title">
            <a:extLst xmlns:a="http://schemas.openxmlformats.org/drawingml/2006/main">
              <a:ext uri="{FF2B5EF4-FFF2-40B4-BE49-F238E27FC236}">
                <a16:creationId xmlns:a16="http://schemas.microsoft.com/office/drawing/2014/main" id="{3A05E788-49CE-4AD1-B274-C2AC7E71FA22}"/>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sp>
        <p:nvSpPr>
          <p:cNvPr id="8" name="">
            <a:extLst xmlns:a="http://schemas.openxmlformats.org/drawingml/2006/main">
              <a:ext uri="{FF2B5EF4-FFF2-40B4-BE49-F238E27FC236}">
                <a16:creationId xmlns:a16="http://schemas.microsoft.com/office/drawing/2014/main" id="{F174835A-2398-4E21-8B91-556A87989EEC}"/>
              </a:ext>
            </a:extLst>
          </p:cNvPr>
          <p:cNvSpPr>
            <a:spLocks xmlns:a="http://schemas.openxmlformats.org/drawingml/2006/main" noGrp="1"/>
          </p:cNvSpPr>
          <p:nvPr/>
        </p:nvSpPr>
        <p:spPr>
          <a:xfrm xmlns:a="http://schemas.openxmlformats.org/drawingml/2006/main">
            <a:off x="609600" y="2286000"/>
            <a:ext cx="333375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0891B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FDF391D-B2C9-4150-9CEA-4995BFD317BB}"/>
              </a:ext>
            </a:extLst>
          </p:cNvPr>
          <p:cNvSpPr>
            <a:spLocks xmlns:a="http://schemas.openxmlformats.org/drawingml/2006/main" noGrp="1"/>
          </p:cNvSpPr>
          <p:nvPr/>
        </p:nvSpPr>
        <p:spPr>
          <a:xfrm xmlns:a="http://schemas.openxmlformats.org/drawingml/2006/main">
            <a:off x="819150" y="2495550"/>
            <a:ext cx="514350" cy="304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9525">
            <a:solidFill>
              <a:srgbClr val="0891B2"/>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01</a:t>
            </a:r>
          </a:p>
        </p:txBody>
      </p:sp>
      <p:sp>
        <p:nvSpPr>
          <p:cNvPr id="10" name="">
            <a:extLst xmlns:a="http://schemas.openxmlformats.org/drawingml/2006/main">
              <a:ext uri="{FF2B5EF4-FFF2-40B4-BE49-F238E27FC236}">
                <a16:creationId xmlns:a16="http://schemas.microsoft.com/office/drawing/2014/main" id="{9468FD46-6127-4A83-BFB7-64B3B091ACA3}"/>
              </a:ext>
            </a:extLst>
          </p:cNvPr>
          <p:cNvSpPr>
            <a:spLocks xmlns:a="http://schemas.openxmlformats.org/drawingml/2006/main" noGrp="1"/>
          </p:cNvSpPr>
          <p:nvPr/>
        </p:nvSpPr>
        <p:spPr>
          <a:xfrm xmlns:a="http://schemas.openxmlformats.org/drawingml/2006/main">
            <a:off x="1504950" y="24765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Prescription extraction</a:t>
            </a:r>
          </a:p>
        </p:txBody>
      </p:sp>
      <p:sp>
        <p:nvSpPr>
          <p:cNvPr id="11" name="">
            <a:extLst xmlns:a="http://schemas.openxmlformats.org/drawingml/2006/main">
              <a:ext uri="{FF2B5EF4-FFF2-40B4-BE49-F238E27FC236}">
                <a16:creationId xmlns:a16="http://schemas.microsoft.com/office/drawing/2014/main" id="{891FEB29-4E8C-4643-9B4C-BEBDF58802D7}"/>
              </a:ext>
            </a:extLst>
          </p:cNvPr>
          <p:cNvSpPr>
            <a:spLocks xmlns:a="http://schemas.openxmlformats.org/drawingml/2006/main" noGrp="1"/>
          </p:cNvSpPr>
          <p:nvPr/>
        </p:nvSpPr>
        <p:spPr>
          <a:xfrm xmlns:a="http://schemas.openxmlformats.org/drawingml/2006/main">
            <a:off x="1504950" y="28956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Exactness • ambiguity • explain</a:t>
            </a:r>
          </a:p>
        </p:txBody>
      </p:sp>
      <p:sp>
        <p:nvSpPr>
          <p:cNvPr id="12" name="">
            <a:extLst xmlns:a="http://schemas.openxmlformats.org/drawingml/2006/main">
              <a:ext uri="{FF2B5EF4-FFF2-40B4-BE49-F238E27FC236}">
                <a16:creationId xmlns:a16="http://schemas.microsoft.com/office/drawing/2014/main" id="{E84D1840-CE5D-4D78-9719-EDAD2D816208}"/>
              </a:ext>
            </a:extLst>
          </p:cNvPr>
          <p:cNvSpPr>
            <a:spLocks xmlns:a="http://schemas.openxmlformats.org/drawingml/2006/main" noGrp="1"/>
          </p:cNvSpPr>
          <p:nvPr/>
        </p:nvSpPr>
        <p:spPr>
          <a:xfrm xmlns:a="http://schemas.openxmlformats.org/drawingml/2006/main">
            <a:off x="4229100" y="2286000"/>
            <a:ext cx="333375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0F766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2363181E-1B60-49F5-8CEE-4D60010ECA90}"/>
              </a:ext>
            </a:extLst>
          </p:cNvPr>
          <p:cNvSpPr>
            <a:spLocks xmlns:a="http://schemas.openxmlformats.org/drawingml/2006/main" noGrp="1"/>
          </p:cNvSpPr>
          <p:nvPr/>
        </p:nvSpPr>
        <p:spPr>
          <a:xfrm xmlns:a="http://schemas.openxmlformats.org/drawingml/2006/main">
            <a:off x="4438650" y="2495550"/>
            <a:ext cx="51435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02</a:t>
            </a:r>
          </a:p>
        </p:txBody>
      </p:sp>
      <p:sp>
        <p:nvSpPr>
          <p:cNvPr id="14" name="">
            <a:extLst xmlns:a="http://schemas.openxmlformats.org/drawingml/2006/main">
              <a:ext uri="{FF2B5EF4-FFF2-40B4-BE49-F238E27FC236}">
                <a16:creationId xmlns:a16="http://schemas.microsoft.com/office/drawing/2014/main" id="{73B8199A-882D-4610-AFD9-130DCE86EA29}"/>
              </a:ext>
            </a:extLst>
          </p:cNvPr>
          <p:cNvSpPr>
            <a:spLocks xmlns:a="http://schemas.openxmlformats.org/drawingml/2006/main" noGrp="1"/>
          </p:cNvSpPr>
          <p:nvPr/>
        </p:nvSpPr>
        <p:spPr>
          <a:xfrm xmlns:a="http://schemas.openxmlformats.org/drawingml/2006/main">
            <a:off x="5124450" y="24765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Image observation</a:t>
            </a:r>
          </a:p>
        </p:txBody>
      </p:sp>
      <p:sp>
        <p:nvSpPr>
          <p:cNvPr id="15" name="">
            <a:extLst xmlns:a="http://schemas.openxmlformats.org/drawingml/2006/main">
              <a:ext uri="{FF2B5EF4-FFF2-40B4-BE49-F238E27FC236}">
                <a16:creationId xmlns:a16="http://schemas.microsoft.com/office/drawing/2014/main" id="{93E3B3D7-F58D-43AE-A92A-66A3ED66357A}"/>
              </a:ext>
            </a:extLst>
          </p:cNvPr>
          <p:cNvSpPr>
            <a:spLocks xmlns:a="http://schemas.openxmlformats.org/drawingml/2006/main" noGrp="1"/>
          </p:cNvSpPr>
          <p:nvPr/>
        </p:nvSpPr>
        <p:spPr>
          <a:xfrm xmlns:a="http://schemas.openxmlformats.org/drawingml/2006/main">
            <a:off x="5124450" y="28956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Adequacy • boundary • escalate</a:t>
            </a:r>
          </a:p>
        </p:txBody>
      </p:sp>
      <p:sp>
        <p:nvSpPr>
          <p:cNvPr id="16" name="">
            <a:extLst xmlns:a="http://schemas.openxmlformats.org/drawingml/2006/main">
              <a:ext uri="{FF2B5EF4-FFF2-40B4-BE49-F238E27FC236}">
                <a16:creationId xmlns:a16="http://schemas.microsoft.com/office/drawing/2014/main" id="{5304421C-AEA4-4C8E-8805-446B1ED33D2C}"/>
              </a:ext>
            </a:extLst>
          </p:cNvPr>
          <p:cNvSpPr>
            <a:spLocks xmlns:a="http://schemas.openxmlformats.org/drawingml/2006/main" noGrp="1"/>
          </p:cNvSpPr>
          <p:nvPr/>
        </p:nvSpPr>
        <p:spPr>
          <a:xfrm xmlns:a="http://schemas.openxmlformats.org/drawingml/2006/main">
            <a:off x="7848600" y="2286000"/>
            <a:ext cx="333375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4F46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ED38CDEA-1656-4B9C-A5A8-6DDE9A0D950E}"/>
              </a:ext>
            </a:extLst>
          </p:cNvPr>
          <p:cNvSpPr>
            <a:spLocks xmlns:a="http://schemas.openxmlformats.org/drawingml/2006/main" noGrp="1"/>
          </p:cNvSpPr>
          <p:nvPr/>
        </p:nvSpPr>
        <p:spPr>
          <a:xfrm xmlns:a="http://schemas.openxmlformats.org/drawingml/2006/main">
            <a:off x="8058150" y="2495550"/>
            <a:ext cx="514350" cy="3048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9525">
            <a:solidFill>
              <a:srgbClr val="4F46E5"/>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03</a:t>
            </a:r>
          </a:p>
        </p:txBody>
      </p:sp>
      <p:sp>
        <p:nvSpPr>
          <p:cNvPr id="18" name="">
            <a:extLst xmlns:a="http://schemas.openxmlformats.org/drawingml/2006/main">
              <a:ext uri="{FF2B5EF4-FFF2-40B4-BE49-F238E27FC236}">
                <a16:creationId xmlns:a16="http://schemas.microsoft.com/office/drawing/2014/main" id="{BBA6172D-5F0D-4C32-9A0B-D75BB327B49F}"/>
              </a:ext>
            </a:extLst>
          </p:cNvPr>
          <p:cNvSpPr>
            <a:spLocks xmlns:a="http://schemas.openxmlformats.org/drawingml/2006/main" noGrp="1"/>
          </p:cNvSpPr>
          <p:nvPr/>
        </p:nvSpPr>
        <p:spPr>
          <a:xfrm xmlns:a="http://schemas.openxmlformats.org/drawingml/2006/main">
            <a:off x="8743950" y="24765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Discharge + language</a:t>
            </a:r>
          </a:p>
        </p:txBody>
      </p:sp>
      <p:sp>
        <p:nvSpPr>
          <p:cNvPr id="19" name="">
            <a:extLst xmlns:a="http://schemas.openxmlformats.org/drawingml/2006/main">
              <a:ext uri="{FF2B5EF4-FFF2-40B4-BE49-F238E27FC236}">
                <a16:creationId xmlns:a16="http://schemas.microsoft.com/office/drawing/2014/main" id="{4E6ABB62-D3FF-4916-A355-EAE67BC10256}"/>
              </a:ext>
            </a:extLst>
          </p:cNvPr>
          <p:cNvSpPr>
            <a:spLocks xmlns:a="http://schemas.openxmlformats.org/drawingml/2006/main" noGrp="1"/>
          </p:cNvSpPr>
          <p:nvPr/>
        </p:nvSpPr>
        <p:spPr>
          <a:xfrm xmlns:a="http://schemas.openxmlformats.org/drawingml/2006/main">
            <a:off x="8743950" y="28956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Meaning • teach-back • review</a:t>
            </a:r>
          </a:p>
        </p:txBody>
      </p:sp>
      <p:sp>
        <p:nvSpPr>
          <p:cNvPr id="20" name="">
            <a:extLst xmlns:a="http://schemas.openxmlformats.org/drawingml/2006/main">
              <a:ext uri="{FF2B5EF4-FFF2-40B4-BE49-F238E27FC236}">
                <a16:creationId xmlns:a16="http://schemas.microsoft.com/office/drawing/2014/main" id="{F967D0C0-0FFD-4042-A378-A567E615C2F8}"/>
              </a:ext>
            </a:extLst>
          </p:cNvPr>
          <p:cNvSpPr>
            <a:spLocks xmlns:a="http://schemas.openxmlformats.org/drawingml/2006/main" noGrp="1"/>
          </p:cNvSpPr>
          <p:nvPr/>
        </p:nvSpPr>
        <p:spPr>
          <a:xfrm xmlns:a="http://schemas.openxmlformats.org/drawingml/2006/main">
            <a:off x="609600" y="3924300"/>
            <a:ext cx="333375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2410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097326C2-BC82-434F-BB6B-F25D3CB8F87E}"/>
              </a:ext>
            </a:extLst>
          </p:cNvPr>
          <p:cNvSpPr>
            <a:spLocks xmlns:a="http://schemas.openxmlformats.org/drawingml/2006/main" noGrp="1"/>
          </p:cNvSpPr>
          <p:nvPr/>
        </p:nvSpPr>
        <p:spPr>
          <a:xfrm xmlns:a="http://schemas.openxmlformats.org/drawingml/2006/main">
            <a:off x="819150" y="4133850"/>
            <a:ext cx="514350" cy="30480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04</a:t>
            </a:r>
          </a:p>
        </p:txBody>
      </p:sp>
      <p:sp>
        <p:nvSpPr>
          <p:cNvPr id="22" name="">
            <a:extLst xmlns:a="http://schemas.openxmlformats.org/drawingml/2006/main">
              <a:ext uri="{FF2B5EF4-FFF2-40B4-BE49-F238E27FC236}">
                <a16:creationId xmlns:a16="http://schemas.microsoft.com/office/drawing/2014/main" id="{645A3909-A222-4CD5-9D4D-C69486B073FC}"/>
              </a:ext>
            </a:extLst>
          </p:cNvPr>
          <p:cNvSpPr>
            <a:spLocks xmlns:a="http://schemas.openxmlformats.org/drawingml/2006/main" noGrp="1"/>
          </p:cNvSpPr>
          <p:nvPr/>
        </p:nvSpPr>
        <p:spPr>
          <a:xfrm xmlns:a="http://schemas.openxmlformats.org/drawingml/2006/main">
            <a:off x="1504950" y="41148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Differential + red flags</a:t>
            </a:r>
          </a:p>
        </p:txBody>
      </p:sp>
      <p:sp>
        <p:nvSpPr>
          <p:cNvPr id="23" name="">
            <a:extLst xmlns:a="http://schemas.openxmlformats.org/drawingml/2006/main">
              <a:ext uri="{FF2B5EF4-FFF2-40B4-BE49-F238E27FC236}">
                <a16:creationId xmlns:a16="http://schemas.microsoft.com/office/drawing/2014/main" id="{F19ADA2D-69B1-4671-A580-9C44F8827BB1}"/>
              </a:ext>
            </a:extLst>
          </p:cNvPr>
          <p:cNvSpPr>
            <a:spLocks xmlns:a="http://schemas.openxmlformats.org/drawingml/2006/main" noGrp="1"/>
          </p:cNvSpPr>
          <p:nvPr/>
        </p:nvSpPr>
        <p:spPr>
          <a:xfrm xmlns:a="http://schemas.openxmlformats.org/drawingml/2006/main">
            <a:off x="1504950" y="45339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Omission • bias • urgency</a:t>
            </a:r>
          </a:p>
        </p:txBody>
      </p:sp>
      <p:sp>
        <p:nvSpPr>
          <p:cNvPr id="24" name="">
            <a:extLst xmlns:a="http://schemas.openxmlformats.org/drawingml/2006/main">
              <a:ext uri="{FF2B5EF4-FFF2-40B4-BE49-F238E27FC236}">
                <a16:creationId xmlns:a16="http://schemas.microsoft.com/office/drawing/2014/main" id="{9ADE97D7-8764-4366-AC2F-963AF8819992}"/>
              </a:ext>
            </a:extLst>
          </p:cNvPr>
          <p:cNvSpPr>
            <a:spLocks xmlns:a="http://schemas.openxmlformats.org/drawingml/2006/main" noGrp="1"/>
          </p:cNvSpPr>
          <p:nvPr/>
        </p:nvSpPr>
        <p:spPr>
          <a:xfrm xmlns:a="http://schemas.openxmlformats.org/drawingml/2006/main">
            <a:off x="4229100" y="3924300"/>
            <a:ext cx="333375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BE123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C3DB008E-404C-4CDC-9896-AA5C148B7FFB}"/>
              </a:ext>
            </a:extLst>
          </p:cNvPr>
          <p:cNvSpPr>
            <a:spLocks xmlns:a="http://schemas.openxmlformats.org/drawingml/2006/main" noGrp="1"/>
          </p:cNvSpPr>
          <p:nvPr/>
        </p:nvSpPr>
        <p:spPr>
          <a:xfrm xmlns:a="http://schemas.openxmlformats.org/drawingml/2006/main">
            <a:off x="4438650" y="4133850"/>
            <a:ext cx="514350" cy="304800"/>
          </a:xfrm>
          <a:prstGeom xmlns:a="http://schemas.openxmlformats.org/drawingml/2006/main" prst="roundRect">
            <a:avLst>
              <a:gd name="adj" fmla="val 50000"/>
            </a:avLst>
          </a:prstGeom>
          <a:solidFill xmlns:a="http://schemas.openxmlformats.org/drawingml/2006/main">
            <a:srgbClr val="BE123C"/>
          </a:solidFill>
          <a:ln xmlns:a="http://schemas.openxmlformats.org/drawingml/2006/main" w="9525">
            <a:solidFill>
              <a:srgbClr val="BE123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05</a:t>
            </a:r>
          </a:p>
        </p:txBody>
      </p:sp>
      <p:sp>
        <p:nvSpPr>
          <p:cNvPr id="26" name="">
            <a:extLst xmlns:a="http://schemas.openxmlformats.org/drawingml/2006/main">
              <a:ext uri="{FF2B5EF4-FFF2-40B4-BE49-F238E27FC236}">
                <a16:creationId xmlns:a16="http://schemas.microsoft.com/office/drawing/2014/main" id="{DA37361B-EF94-46CA-BD42-348F2C05F193}"/>
              </a:ext>
            </a:extLst>
          </p:cNvPr>
          <p:cNvSpPr>
            <a:spLocks xmlns:a="http://schemas.openxmlformats.org/drawingml/2006/main" noGrp="1"/>
          </p:cNvSpPr>
          <p:nvPr/>
        </p:nvSpPr>
        <p:spPr>
          <a:xfrm xmlns:a="http://schemas.openxmlformats.org/drawingml/2006/main">
            <a:off x="5124450" y="41148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PV intake</a:t>
            </a:r>
          </a:p>
        </p:txBody>
      </p:sp>
      <p:sp>
        <p:nvSpPr>
          <p:cNvPr id="27" name="">
            <a:extLst xmlns:a="http://schemas.openxmlformats.org/drawingml/2006/main">
              <a:ext uri="{FF2B5EF4-FFF2-40B4-BE49-F238E27FC236}">
                <a16:creationId xmlns:a16="http://schemas.microsoft.com/office/drawing/2014/main" id="{579712B9-73EE-4485-A235-9A52C809565E}"/>
              </a:ext>
            </a:extLst>
          </p:cNvPr>
          <p:cNvSpPr>
            <a:spLocks xmlns:a="http://schemas.openxmlformats.org/drawingml/2006/main" noGrp="1"/>
          </p:cNvSpPr>
          <p:nvPr/>
        </p:nvSpPr>
        <p:spPr>
          <a:xfrm xmlns:a="http://schemas.openxmlformats.org/drawingml/2006/main">
            <a:off x="5124450" y="45339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Neutrality • missingness • route</a:t>
            </a:r>
          </a:p>
        </p:txBody>
      </p:sp>
      <p:sp>
        <p:nvSpPr>
          <p:cNvPr id="28" name="">
            <a:extLst xmlns:a="http://schemas.openxmlformats.org/drawingml/2006/main">
              <a:ext uri="{FF2B5EF4-FFF2-40B4-BE49-F238E27FC236}">
                <a16:creationId xmlns:a16="http://schemas.microsoft.com/office/drawing/2014/main" id="{CB351764-7AC6-4AC0-9C86-F909EF4C73A3}"/>
              </a:ext>
            </a:extLst>
          </p:cNvPr>
          <p:cNvSpPr>
            <a:spLocks xmlns:a="http://schemas.openxmlformats.org/drawingml/2006/main" noGrp="1"/>
          </p:cNvSpPr>
          <p:nvPr/>
        </p:nvSpPr>
        <p:spPr>
          <a:xfrm xmlns:a="http://schemas.openxmlformats.org/drawingml/2006/main">
            <a:off x="7848600" y="3924300"/>
            <a:ext cx="333375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0369A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0EF52A20-4766-44F4-90AE-33A8A7BE40A6}"/>
              </a:ext>
            </a:extLst>
          </p:cNvPr>
          <p:cNvSpPr>
            <a:spLocks xmlns:a="http://schemas.openxmlformats.org/drawingml/2006/main" noGrp="1"/>
          </p:cNvSpPr>
          <p:nvPr/>
        </p:nvSpPr>
        <p:spPr>
          <a:xfrm xmlns:a="http://schemas.openxmlformats.org/drawingml/2006/main">
            <a:off x="8058150" y="4133850"/>
            <a:ext cx="514350" cy="304800"/>
          </a:xfrm>
          <a:prstGeom xmlns:a="http://schemas.openxmlformats.org/drawingml/2006/main" prst="roundRect">
            <a:avLst>
              <a:gd name="adj" fmla="val 50000"/>
            </a:avLst>
          </a:prstGeom>
          <a:solidFill xmlns:a="http://schemas.openxmlformats.org/drawingml/2006/main">
            <a:srgbClr val="0369A1"/>
          </a:solidFill>
          <a:ln xmlns:a="http://schemas.openxmlformats.org/drawingml/2006/main" w="9525">
            <a:solidFill>
              <a:srgbClr val="0369A1"/>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06</a:t>
            </a:r>
          </a:p>
        </p:txBody>
      </p:sp>
      <p:sp>
        <p:nvSpPr>
          <p:cNvPr id="30" name="">
            <a:extLst xmlns:a="http://schemas.openxmlformats.org/drawingml/2006/main">
              <a:ext uri="{FF2B5EF4-FFF2-40B4-BE49-F238E27FC236}">
                <a16:creationId xmlns:a16="http://schemas.microsoft.com/office/drawing/2014/main" id="{0A71D255-B23F-465A-95FD-FA17B7B5107E}"/>
              </a:ext>
            </a:extLst>
          </p:cNvPr>
          <p:cNvSpPr>
            <a:spLocks xmlns:a="http://schemas.openxmlformats.org/drawingml/2006/main" noGrp="1"/>
          </p:cNvSpPr>
          <p:nvPr/>
        </p:nvSpPr>
        <p:spPr>
          <a:xfrm xmlns:a="http://schemas.openxmlformats.org/drawingml/2006/main">
            <a:off x="8743950" y="41148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73647"/>
                </a:solidFill>
              </a:defRPr>
            </a:pPr>
            <a:r>
              <a:rPr sz="1425" b="1">
                <a:solidFill>
                  <a:srgbClr val="073647"/>
                </a:solidFill>
              </a:rPr>
              <a:t>Evidence verification</a:t>
            </a:r>
          </a:p>
        </p:txBody>
      </p:sp>
      <p:sp>
        <p:nvSpPr>
          <p:cNvPr id="31" name="">
            <a:extLst xmlns:a="http://schemas.openxmlformats.org/drawingml/2006/main">
              <a:ext uri="{FF2B5EF4-FFF2-40B4-BE49-F238E27FC236}">
                <a16:creationId xmlns:a16="http://schemas.microsoft.com/office/drawing/2014/main" id="{62DEDF20-96A8-4CC7-8BAB-F821A5211C23}"/>
              </a:ext>
            </a:extLst>
          </p:cNvPr>
          <p:cNvSpPr>
            <a:spLocks xmlns:a="http://schemas.openxmlformats.org/drawingml/2006/main" noGrp="1"/>
          </p:cNvSpPr>
          <p:nvPr/>
        </p:nvSpPr>
        <p:spPr>
          <a:xfrm xmlns:a="http://schemas.openxmlformats.org/drawingml/2006/main">
            <a:off x="8743950" y="45339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475569"/>
                </a:solidFill>
              </a:defRPr>
            </a:pPr>
            <a:r>
              <a:rPr sz="1125" b="0">
                <a:solidFill>
                  <a:srgbClr val="475569"/>
                </a:solidFill>
              </a:rPr>
              <a:t>Search log • source checks</a:t>
            </a:r>
          </a:p>
        </p:txBody>
      </p:sp>
      <p:sp>
        <p:nvSpPr>
          <p:cNvPr id="32" name="">
            <a:extLst xmlns:a="http://schemas.openxmlformats.org/drawingml/2006/main">
              <a:ext uri="{FF2B5EF4-FFF2-40B4-BE49-F238E27FC236}">
                <a16:creationId xmlns:a16="http://schemas.microsoft.com/office/drawing/2014/main" id="{B133B773-54F5-49A1-880E-CEF6CD3E1727}"/>
              </a:ext>
            </a:extLst>
          </p:cNvPr>
          <p:cNvSpPr>
            <a:spLocks xmlns:a="http://schemas.openxmlformats.org/drawingml/2006/main" noGrp="1"/>
          </p:cNvSpPr>
          <p:nvPr/>
        </p:nvSpPr>
        <p:spPr>
          <a:xfrm xmlns:a="http://schemas.openxmlformats.org/drawingml/2006/main">
            <a:off x="609600" y="5695950"/>
            <a:ext cx="10572750" cy="419100"/>
          </a:xfrm>
          <a:prstGeom xmlns:a="http://schemas.openxmlformats.org/drawingml/2006/main" prst="roundRect">
            <a:avLst>
              <a:gd name="adj" fmla="val 50000"/>
            </a:avLst>
          </a:prstGeom>
          <a:solidFill xmlns:a="http://schemas.openxmlformats.org/drawingml/2006/main">
            <a:srgbClr val="073647"/>
          </a:solidFill>
          <a:ln xmlns:a="http://schemas.openxmlformats.org/drawingml/2006/main" w="9525">
            <a:solidFill>
              <a:srgbClr val="07364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2FFE1595-4942-49B5-9E37-CB3A5A927F6D}"/>
              </a:ext>
            </a:extLst>
          </p:cNvPr>
          <p:cNvSpPr>
            <a:spLocks xmlns:a="http://schemas.openxmlformats.org/drawingml/2006/main" noGrp="1"/>
          </p:cNvSpPr>
          <p:nvPr/>
        </p:nvSpPr>
        <p:spPr>
          <a:xfrm xmlns:a="http://schemas.openxmlformats.org/drawingml/2006/main">
            <a:off x="1828800" y="5781675"/>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FFFFFF"/>
                </a:solidFill>
              </a:defRPr>
            </a:pPr>
            <a:r>
              <a:rPr sz="1275" b="1">
                <a:solidFill>
                  <a:srgbClr val="FFFFFF"/>
                </a:solidFill>
              </a:rPr>
              <a:t>Decision record for every output: ACCEPT • EDIT • REJECT • ESCALATE</a:t>
            </a:r>
          </a:p>
        </p:txBody>
      </p:sp>
    </p:spTree>
    <p:extLst>
      <p:ext uri="{BB962C8B-B14F-4D97-AF65-F5344CB8AC3E}">
        <p14:creationId xmlns:p14="http://schemas.microsoft.com/office/powerpoint/2010/main" val="1241593310"/>
      </p:ext>
    </p:extLst>
  </p:cSld>
</p:sld>
</file>

<file path=ppt/slides/slide12.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4D7A8B-826D-4F79-A45A-A8BAB26F623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brand-lockup">
            <a:extLst xmlns:a="http://schemas.openxmlformats.org/drawingml/2006/main">
              <a:ext uri="{FF2B5EF4-FFF2-40B4-BE49-F238E27FC236}">
                <a16:creationId xmlns:a16="http://schemas.microsoft.com/office/drawing/2014/main" id="{F70F3C97-A356-4AFD-864B-8BDC2013BB1B}"/>
              </a:ext>
            </a:extLst>
          </p:cNvPr>
          <p:cNvSpPr>
            <a:spLocks xmlns:a="http://schemas.openxmlformats.org/drawingml/2006/main" noGrp="1"/>
          </p:cNvSpPr>
          <p:nvPr/>
        </p:nvSpPr>
        <p:spPr>
          <a:xfrm xmlns:a="http://schemas.openxmlformats.org/drawingml/2006/main">
            <a:off x="609600" y="304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73647"/>
                </a:solidFill>
              </a:defRPr>
            </a:pPr>
            <a:r>
              <a:rPr sz="975" b="1">
                <a:solidFill>
                  <a:srgbClr val="073647"/>
                </a:solidFill>
              </a:rPr>
              <a:t>ALKEM  |  AI MASTERCLASS</a:t>
            </a:r>
          </a:p>
        </p:txBody>
      </p:sp>
      <p:sp>
        <p:nvSpPr>
          <p:cNvPr id="3" name="section-label">
            <a:extLst xmlns:a="http://schemas.openxmlformats.org/drawingml/2006/main">
              <a:ext uri="{FF2B5EF4-FFF2-40B4-BE49-F238E27FC236}">
                <a16:creationId xmlns:a16="http://schemas.microsoft.com/office/drawing/2014/main" id="{82A21695-742A-4F4B-8E58-A39999462F9B}"/>
              </a:ext>
            </a:extLst>
          </p:cNvPr>
          <p:cNvSpPr>
            <a:spLocks xmlns:a="http://schemas.openxmlformats.org/drawingml/2006/main" noGrp="1"/>
          </p:cNvSpPr>
          <p:nvPr/>
        </p:nvSpPr>
        <p:spPr>
          <a:xfrm xmlns:a="http://schemas.openxmlformats.org/drawingml/2006/main">
            <a:off x="609600" y="7239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F766E"/>
                </a:solidFill>
              </a:defRPr>
            </a:pPr>
            <a:r>
              <a:rPr sz="900" b="1">
                <a:solidFill>
                  <a:srgbClr val="0F766E"/>
                </a:solidFill>
              </a:rPr>
              <a:t>CLOSE</a:t>
            </a:r>
          </a:p>
        </p:txBody>
      </p:sp>
      <p:sp>
        <p:nvSpPr>
          <p:cNvPr id="4" name="slide-title">
            <a:extLst xmlns:a="http://schemas.openxmlformats.org/drawingml/2006/main">
              <a:ext uri="{FF2B5EF4-FFF2-40B4-BE49-F238E27FC236}">
                <a16:creationId xmlns:a16="http://schemas.microsoft.com/office/drawing/2014/main" id="{7F1D83F1-BEB4-4220-82F0-88BC8243632F}"/>
              </a:ext>
            </a:extLst>
          </p:cNvPr>
          <p:cNvSpPr>
            <a:spLocks xmlns:a="http://schemas.openxmlformats.org/drawingml/2006/main" noGrp="1"/>
          </p:cNvSpPr>
          <p:nvPr/>
        </p:nvSpPr>
        <p:spPr>
          <a:xfrm xmlns:a="http://schemas.openxmlformats.org/drawingml/2006/main">
            <a:off x="609600" y="1028700"/>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73647"/>
                </a:solidFill>
              </a:defRPr>
            </a:pPr>
            <a:r>
              <a:rPr sz="2700" b="1">
                <a:solidFill>
                  <a:srgbClr val="073647"/>
                </a:solidFill>
              </a:rPr>
              <a:t>Your 30-day responsible pilot</a:t>
            </a:r>
          </a:p>
        </p:txBody>
      </p:sp>
      <p:sp>
        <p:nvSpPr>
          <p:cNvPr id="5" name="slide-subtitle">
            <a:extLst xmlns:a="http://schemas.openxmlformats.org/drawingml/2006/main">
              <a:ext uri="{FF2B5EF4-FFF2-40B4-BE49-F238E27FC236}">
                <a16:creationId xmlns:a16="http://schemas.microsoft.com/office/drawing/2014/main" id="{215FA157-5A60-46F2-81CF-732DB88415B4}"/>
              </a:ext>
            </a:extLst>
          </p:cNvPr>
          <p:cNvSpPr>
            <a:spLocks xmlns:a="http://schemas.openxmlformats.org/drawingml/2006/main" noGrp="1"/>
          </p:cNvSpPr>
          <p:nvPr/>
        </p:nvSpPr>
        <p:spPr>
          <a:xfrm xmlns:a="http://schemas.openxmlformats.org/drawingml/2006/main">
            <a:off x="609600" y="167640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475569"/>
                </a:solidFill>
              </a:defRPr>
            </a:pPr>
            <a:r>
              <a:rPr sz="1350" b="0">
                <a:solidFill>
                  <a:srgbClr val="475569"/>
                </a:solidFill>
              </a:rPr>
              <a:t>Start with a reversible workflow, a measurable outcome, and a stop rule.</a:t>
            </a:r>
          </a:p>
        </p:txBody>
      </p:sp>
      <p:sp>
        <p:nvSpPr>
          <p:cNvPr id="6" name="slide-number">
            <a:extLst xmlns:a="http://schemas.openxmlformats.org/drawingml/2006/main">
              <a:ext uri="{FF2B5EF4-FFF2-40B4-BE49-F238E27FC236}">
                <a16:creationId xmlns:a16="http://schemas.microsoft.com/office/drawing/2014/main" id="{D310B5FA-92F8-45FB-B16D-8BEBF0D4136E}"/>
              </a:ext>
            </a:extLst>
          </p:cNvPr>
          <p:cNvSpPr>
            <a:spLocks xmlns:a="http://schemas.openxmlformats.org/drawingml/2006/main" noGrp="1"/>
          </p:cNvSpPr>
          <p:nvPr/>
        </p:nvSpPr>
        <p:spPr>
          <a:xfrm xmlns:a="http://schemas.openxmlformats.org/drawingml/2006/main">
            <a:off x="11239500" y="62484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475569"/>
                </a:solidFill>
              </a:defRPr>
            </a:pPr>
            <a:r>
              <a:rPr sz="900" b="1">
                <a:solidFill>
                  <a:srgbClr val="475569"/>
                </a:solidFill>
              </a:rPr>
              <a:t>12</a:t>
            </a:r>
          </a:p>
        </p:txBody>
      </p:sp>
      <p:sp>
        <p:nvSpPr>
          <p:cNvPr id="7" name="footer-title">
            <a:extLst xmlns:a="http://schemas.openxmlformats.org/drawingml/2006/main">
              <a:ext uri="{FF2B5EF4-FFF2-40B4-BE49-F238E27FC236}">
                <a16:creationId xmlns:a16="http://schemas.microsoft.com/office/drawing/2014/main" id="{3B4B9121-C7F6-4BEB-B151-B180F8B7C9D2}"/>
              </a:ext>
            </a:extLst>
          </p:cNvPr>
          <p:cNvSpPr>
            <a:spLocks xmlns:a="http://schemas.openxmlformats.org/drawingml/2006/main" noGrp="1"/>
          </p:cNvSpPr>
          <p:nvPr/>
        </p:nvSpPr>
        <p:spPr>
          <a:xfrm xmlns:a="http://schemas.openxmlformats.org/drawingml/2006/main">
            <a:off x="609600" y="62484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0">
                <a:solidFill>
                  <a:srgbClr val="475569"/>
                </a:solidFill>
              </a:defRPr>
            </a:pPr>
            <a:r>
              <a:rPr sz="825" b="0">
                <a:solidFill>
                  <a:srgbClr val="475569"/>
                </a:solidFill>
              </a:rPr>
              <a:t>GenAI for Patient-Centric Healthcare</a:t>
            </a:r>
          </a:p>
        </p:txBody>
      </p:sp>
      <p:sp>
        <p:nvSpPr>
          <p:cNvPr id="8" name="">
            <a:extLst xmlns:a="http://schemas.openxmlformats.org/drawingml/2006/main">
              <a:ext uri="{FF2B5EF4-FFF2-40B4-BE49-F238E27FC236}">
                <a16:creationId xmlns:a16="http://schemas.microsoft.com/office/drawing/2014/main" id="{6D514A87-A013-42C0-863D-DF860079B15E}"/>
              </a:ext>
            </a:extLst>
          </p:cNvPr>
          <p:cNvSpPr>
            <a:spLocks xmlns:a="http://schemas.openxmlformats.org/drawingml/2006/main" noGrp="1"/>
          </p:cNvSpPr>
          <p:nvPr/>
        </p:nvSpPr>
        <p:spPr>
          <a:xfrm xmlns:a="http://schemas.openxmlformats.org/drawingml/2006/main">
            <a:off x="609600" y="2209800"/>
            <a:ext cx="3333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7B0D59F-6479-4EB7-AC79-3A7BF3B54AE4}"/>
              </a:ext>
            </a:extLst>
          </p:cNvPr>
          <p:cNvSpPr>
            <a:spLocks xmlns:a="http://schemas.openxmlformats.org/drawingml/2006/main" noGrp="1"/>
          </p:cNvSpPr>
          <p:nvPr/>
        </p:nvSpPr>
        <p:spPr>
          <a:xfrm xmlns:a="http://schemas.openxmlformats.org/drawingml/2006/main">
            <a:off x="819150" y="2400300"/>
            <a:ext cx="106680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PAIN POINT</a:t>
            </a:r>
          </a:p>
        </p:txBody>
      </p:sp>
      <p:sp>
        <p:nvSpPr>
          <p:cNvPr id="10" name="">
            <a:extLst xmlns:a="http://schemas.openxmlformats.org/drawingml/2006/main">
              <a:ext uri="{FF2B5EF4-FFF2-40B4-BE49-F238E27FC236}">
                <a16:creationId xmlns:a16="http://schemas.microsoft.com/office/drawing/2014/main" id="{EC265144-8692-46A3-AF7F-45276A707E81}"/>
              </a:ext>
            </a:extLst>
          </p:cNvPr>
          <p:cNvSpPr>
            <a:spLocks xmlns:a="http://schemas.openxmlformats.org/drawingml/2006/main" noGrp="1"/>
          </p:cNvSpPr>
          <p:nvPr/>
        </p:nvSpPr>
        <p:spPr>
          <a:xfrm xmlns:a="http://schemas.openxmlformats.org/drawingml/2006/main">
            <a:off x="819150" y="2838450"/>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F172A"/>
                </a:solidFill>
              </a:defRPr>
            </a:pPr>
            <a:r>
              <a:rPr sz="1200" b="1">
                <a:solidFill>
                  <a:srgbClr val="0F172A"/>
                </a:solidFill>
              </a:rPr>
              <a:t>One bounded task worth improving</a:t>
            </a:r>
          </a:p>
        </p:txBody>
      </p:sp>
      <p:sp>
        <p:nvSpPr>
          <p:cNvPr id="11" name="">
            <a:extLst xmlns:a="http://schemas.openxmlformats.org/drawingml/2006/main">
              <a:ext uri="{FF2B5EF4-FFF2-40B4-BE49-F238E27FC236}">
                <a16:creationId xmlns:a16="http://schemas.microsoft.com/office/drawing/2014/main" id="{4439E572-7549-462A-A80F-BC2D8EEF4D83}"/>
              </a:ext>
            </a:extLst>
          </p:cNvPr>
          <p:cNvSpPr>
            <a:spLocks xmlns:a="http://schemas.openxmlformats.org/drawingml/2006/main" noGrp="1"/>
          </p:cNvSpPr>
          <p:nvPr/>
        </p:nvSpPr>
        <p:spPr>
          <a:xfrm xmlns:a="http://schemas.openxmlformats.org/drawingml/2006/main">
            <a:off x="4229100" y="2209800"/>
            <a:ext cx="3333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DB034F2-A5C0-4C61-B08D-EFA39FB949AC}"/>
              </a:ext>
            </a:extLst>
          </p:cNvPr>
          <p:cNvSpPr>
            <a:spLocks xmlns:a="http://schemas.openxmlformats.org/drawingml/2006/main" noGrp="1"/>
          </p:cNvSpPr>
          <p:nvPr/>
        </p:nvSpPr>
        <p:spPr>
          <a:xfrm xmlns:a="http://schemas.openxmlformats.org/drawingml/2006/main">
            <a:off x="4438650" y="2400300"/>
            <a:ext cx="106680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OWNER</a:t>
            </a:r>
          </a:p>
        </p:txBody>
      </p:sp>
      <p:sp>
        <p:nvSpPr>
          <p:cNvPr id="13" name="">
            <a:extLst xmlns:a="http://schemas.openxmlformats.org/drawingml/2006/main">
              <a:ext uri="{FF2B5EF4-FFF2-40B4-BE49-F238E27FC236}">
                <a16:creationId xmlns:a16="http://schemas.microsoft.com/office/drawing/2014/main" id="{D17BF799-A90C-4259-B494-D5E3D7FD5A04}"/>
              </a:ext>
            </a:extLst>
          </p:cNvPr>
          <p:cNvSpPr>
            <a:spLocks xmlns:a="http://schemas.openxmlformats.org/drawingml/2006/main" noGrp="1"/>
          </p:cNvSpPr>
          <p:nvPr/>
        </p:nvSpPr>
        <p:spPr>
          <a:xfrm xmlns:a="http://schemas.openxmlformats.org/drawingml/2006/main">
            <a:off x="4438650" y="2838450"/>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F172A"/>
                </a:solidFill>
              </a:defRPr>
            </a:pPr>
            <a:r>
              <a:rPr sz="1200" b="1">
                <a:solidFill>
                  <a:srgbClr val="0F172A"/>
                </a:solidFill>
              </a:rPr>
              <a:t>One accountable person or team</a:t>
            </a:r>
          </a:p>
        </p:txBody>
      </p:sp>
      <p:sp>
        <p:nvSpPr>
          <p:cNvPr id="14" name="">
            <a:extLst xmlns:a="http://schemas.openxmlformats.org/drawingml/2006/main">
              <a:ext uri="{FF2B5EF4-FFF2-40B4-BE49-F238E27FC236}">
                <a16:creationId xmlns:a16="http://schemas.microsoft.com/office/drawing/2014/main" id="{972D9399-8A11-4E44-A264-28EEC754C469}"/>
              </a:ext>
            </a:extLst>
          </p:cNvPr>
          <p:cNvSpPr>
            <a:spLocks xmlns:a="http://schemas.openxmlformats.org/drawingml/2006/main" noGrp="1"/>
          </p:cNvSpPr>
          <p:nvPr/>
        </p:nvSpPr>
        <p:spPr>
          <a:xfrm xmlns:a="http://schemas.openxmlformats.org/drawingml/2006/main">
            <a:off x="7848600" y="2209800"/>
            <a:ext cx="3333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67879EBF-1E5C-44E9-A2EB-A45DA1AE32D0}"/>
              </a:ext>
            </a:extLst>
          </p:cNvPr>
          <p:cNvSpPr>
            <a:spLocks xmlns:a="http://schemas.openxmlformats.org/drawingml/2006/main" noGrp="1"/>
          </p:cNvSpPr>
          <p:nvPr/>
        </p:nvSpPr>
        <p:spPr>
          <a:xfrm xmlns:a="http://schemas.openxmlformats.org/drawingml/2006/main">
            <a:off x="8058150" y="2400300"/>
            <a:ext cx="106680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DATA</a:t>
            </a:r>
          </a:p>
        </p:txBody>
      </p:sp>
      <p:sp>
        <p:nvSpPr>
          <p:cNvPr id="16" name="">
            <a:extLst xmlns:a="http://schemas.openxmlformats.org/drawingml/2006/main">
              <a:ext uri="{FF2B5EF4-FFF2-40B4-BE49-F238E27FC236}">
                <a16:creationId xmlns:a16="http://schemas.microsoft.com/office/drawing/2014/main" id="{AD99C25B-6199-4BE6-BD89-F76B10B6541A}"/>
              </a:ext>
            </a:extLst>
          </p:cNvPr>
          <p:cNvSpPr>
            <a:spLocks xmlns:a="http://schemas.openxmlformats.org/drawingml/2006/main" noGrp="1"/>
          </p:cNvSpPr>
          <p:nvPr/>
        </p:nvSpPr>
        <p:spPr>
          <a:xfrm xmlns:a="http://schemas.openxmlformats.org/drawingml/2006/main">
            <a:off x="8058150" y="2838450"/>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F172A"/>
                </a:solidFill>
              </a:defRPr>
            </a:pPr>
            <a:r>
              <a:rPr sz="1200" b="1">
                <a:solidFill>
                  <a:srgbClr val="0F172A"/>
                </a:solidFill>
              </a:rPr>
              <a:t>Allowed, prohibited, and minimum necessary</a:t>
            </a:r>
          </a:p>
        </p:txBody>
      </p:sp>
      <p:sp>
        <p:nvSpPr>
          <p:cNvPr id="17" name="">
            <a:extLst xmlns:a="http://schemas.openxmlformats.org/drawingml/2006/main">
              <a:ext uri="{FF2B5EF4-FFF2-40B4-BE49-F238E27FC236}">
                <a16:creationId xmlns:a16="http://schemas.microsoft.com/office/drawing/2014/main" id="{D787A3DD-A6FE-443A-8532-B26A5E241D35}"/>
              </a:ext>
            </a:extLst>
          </p:cNvPr>
          <p:cNvSpPr>
            <a:spLocks xmlns:a="http://schemas.openxmlformats.org/drawingml/2006/main" noGrp="1"/>
          </p:cNvSpPr>
          <p:nvPr/>
        </p:nvSpPr>
        <p:spPr>
          <a:xfrm xmlns:a="http://schemas.openxmlformats.org/drawingml/2006/main">
            <a:off x="609600" y="3714750"/>
            <a:ext cx="3333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65D4C52A-F8AB-4D30-AC3A-7911694E5F2E}"/>
              </a:ext>
            </a:extLst>
          </p:cNvPr>
          <p:cNvSpPr>
            <a:spLocks xmlns:a="http://schemas.openxmlformats.org/drawingml/2006/main" noGrp="1"/>
          </p:cNvSpPr>
          <p:nvPr/>
        </p:nvSpPr>
        <p:spPr>
          <a:xfrm xmlns:a="http://schemas.openxmlformats.org/drawingml/2006/main">
            <a:off x="819150" y="3905250"/>
            <a:ext cx="106680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MEASURE</a:t>
            </a:r>
          </a:p>
        </p:txBody>
      </p:sp>
      <p:sp>
        <p:nvSpPr>
          <p:cNvPr id="19" name="">
            <a:extLst xmlns:a="http://schemas.openxmlformats.org/drawingml/2006/main">
              <a:ext uri="{FF2B5EF4-FFF2-40B4-BE49-F238E27FC236}">
                <a16:creationId xmlns:a16="http://schemas.microsoft.com/office/drawing/2014/main" id="{94CA26CD-8970-43B7-B9EB-BE39B0190EED}"/>
              </a:ext>
            </a:extLst>
          </p:cNvPr>
          <p:cNvSpPr>
            <a:spLocks xmlns:a="http://schemas.openxmlformats.org/drawingml/2006/main" noGrp="1"/>
          </p:cNvSpPr>
          <p:nvPr/>
        </p:nvSpPr>
        <p:spPr>
          <a:xfrm xmlns:a="http://schemas.openxmlformats.org/drawingml/2006/main">
            <a:off x="819150" y="4343400"/>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F172A"/>
                </a:solidFill>
              </a:defRPr>
            </a:pPr>
            <a:r>
              <a:rPr sz="1200" b="1">
                <a:solidFill>
                  <a:srgbClr val="0F172A"/>
                </a:solidFill>
              </a:rPr>
              <a:t>Baseline, target, and quality/safety metric</a:t>
            </a:r>
          </a:p>
        </p:txBody>
      </p:sp>
      <p:sp>
        <p:nvSpPr>
          <p:cNvPr id="20" name="">
            <a:extLst xmlns:a="http://schemas.openxmlformats.org/drawingml/2006/main">
              <a:ext uri="{FF2B5EF4-FFF2-40B4-BE49-F238E27FC236}">
                <a16:creationId xmlns:a16="http://schemas.microsoft.com/office/drawing/2014/main" id="{EE0C898E-B4D5-4D90-A201-D870C0F7D4E8}"/>
              </a:ext>
            </a:extLst>
          </p:cNvPr>
          <p:cNvSpPr>
            <a:spLocks xmlns:a="http://schemas.openxmlformats.org/drawingml/2006/main" noGrp="1"/>
          </p:cNvSpPr>
          <p:nvPr/>
        </p:nvSpPr>
        <p:spPr>
          <a:xfrm xmlns:a="http://schemas.openxmlformats.org/drawingml/2006/main">
            <a:off x="4229100" y="3714750"/>
            <a:ext cx="333375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9525">
            <a:solidFill>
              <a:srgbClr val="D8E7E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10B57AEE-7477-4266-A18C-CC2F231F45D4}"/>
              </a:ext>
            </a:extLst>
          </p:cNvPr>
          <p:cNvSpPr>
            <a:spLocks xmlns:a="http://schemas.openxmlformats.org/drawingml/2006/main" noGrp="1"/>
          </p:cNvSpPr>
          <p:nvPr/>
        </p:nvSpPr>
        <p:spPr>
          <a:xfrm xmlns:a="http://schemas.openxmlformats.org/drawingml/2006/main">
            <a:off x="4438650" y="3905250"/>
            <a:ext cx="1066800" cy="3048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REVIEW</a:t>
            </a:r>
          </a:p>
        </p:txBody>
      </p:sp>
      <p:sp>
        <p:nvSpPr>
          <p:cNvPr id="22" name="">
            <a:extLst xmlns:a="http://schemas.openxmlformats.org/drawingml/2006/main">
              <a:ext uri="{FF2B5EF4-FFF2-40B4-BE49-F238E27FC236}">
                <a16:creationId xmlns:a16="http://schemas.microsoft.com/office/drawing/2014/main" id="{B8CE71C2-8A96-420A-B29B-560D75876B4B}"/>
              </a:ext>
            </a:extLst>
          </p:cNvPr>
          <p:cNvSpPr>
            <a:spLocks xmlns:a="http://schemas.openxmlformats.org/drawingml/2006/main" noGrp="1"/>
          </p:cNvSpPr>
          <p:nvPr/>
        </p:nvSpPr>
        <p:spPr>
          <a:xfrm xmlns:a="http://schemas.openxmlformats.org/drawingml/2006/main">
            <a:off x="4438650" y="4343400"/>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F172A"/>
                </a:solidFill>
              </a:defRPr>
            </a:pPr>
            <a:r>
              <a:rPr sz="1200" b="1">
                <a:solidFill>
                  <a:srgbClr val="0F172A"/>
                </a:solidFill>
              </a:rPr>
              <a:t>Human checks, escalation, and audit evidence</a:t>
            </a:r>
          </a:p>
        </p:txBody>
      </p:sp>
      <p:sp>
        <p:nvSpPr>
          <p:cNvPr id="23" name="">
            <a:extLst xmlns:a="http://schemas.openxmlformats.org/drawingml/2006/main">
              <a:ext uri="{FF2B5EF4-FFF2-40B4-BE49-F238E27FC236}">
                <a16:creationId xmlns:a16="http://schemas.microsoft.com/office/drawing/2014/main" id="{AC9E37DB-D002-4F9A-93DF-29EF1E436CE2}"/>
              </a:ext>
            </a:extLst>
          </p:cNvPr>
          <p:cNvSpPr>
            <a:spLocks xmlns:a="http://schemas.openxmlformats.org/drawingml/2006/main" noGrp="1"/>
          </p:cNvSpPr>
          <p:nvPr/>
        </p:nvSpPr>
        <p:spPr>
          <a:xfrm xmlns:a="http://schemas.openxmlformats.org/drawingml/2006/main">
            <a:off x="7848600" y="3714750"/>
            <a:ext cx="3333750" cy="1238250"/>
          </a:xfrm>
          <a:prstGeom xmlns:a="http://schemas.openxmlformats.org/drawingml/2006/main" prst="roundRect">
            <a:avLst>
              <a:gd name="adj" fmla="val 12308"/>
            </a:avLst>
          </a:prstGeom>
          <a:solidFill xmlns:a="http://schemas.openxmlformats.org/drawingml/2006/main">
            <a:srgbClr val="FFF7ED"/>
          </a:solidFill>
          <a:ln xmlns:a="http://schemas.openxmlformats.org/drawingml/2006/main" w="9525">
            <a:solidFill>
              <a:srgbClr val="C2410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054A5AF1-13BB-4787-A7A7-75BB7614740A}"/>
              </a:ext>
            </a:extLst>
          </p:cNvPr>
          <p:cNvSpPr>
            <a:spLocks xmlns:a="http://schemas.openxmlformats.org/drawingml/2006/main" noGrp="1"/>
          </p:cNvSpPr>
          <p:nvPr/>
        </p:nvSpPr>
        <p:spPr>
          <a:xfrm xmlns:a="http://schemas.openxmlformats.org/drawingml/2006/main">
            <a:off x="8058150" y="3905250"/>
            <a:ext cx="1066800" cy="30480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STOP</a:t>
            </a:r>
          </a:p>
        </p:txBody>
      </p:sp>
      <p:sp>
        <p:nvSpPr>
          <p:cNvPr id="25" name="">
            <a:extLst xmlns:a="http://schemas.openxmlformats.org/drawingml/2006/main">
              <a:ext uri="{FF2B5EF4-FFF2-40B4-BE49-F238E27FC236}">
                <a16:creationId xmlns:a16="http://schemas.microsoft.com/office/drawing/2014/main" id="{1F6DCEE5-5A45-437D-8042-6D8BAE8C21D4}"/>
              </a:ext>
            </a:extLst>
          </p:cNvPr>
          <p:cNvSpPr>
            <a:spLocks xmlns:a="http://schemas.openxmlformats.org/drawingml/2006/main" noGrp="1"/>
          </p:cNvSpPr>
          <p:nvPr/>
        </p:nvSpPr>
        <p:spPr>
          <a:xfrm xmlns:a="http://schemas.openxmlformats.org/drawingml/2006/main">
            <a:off x="8058150" y="4343400"/>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F172A"/>
                </a:solidFill>
              </a:defRPr>
            </a:pPr>
            <a:r>
              <a:rPr sz="1200" b="1">
                <a:solidFill>
                  <a:srgbClr val="0F172A"/>
                </a:solidFill>
              </a:rPr>
              <a:t>Threshold that pauses or rolls back the pilot</a:t>
            </a:r>
          </a:p>
        </p:txBody>
      </p:sp>
      <p:sp>
        <p:nvSpPr>
          <p:cNvPr id="26" name="">
            <a:extLst xmlns:a="http://schemas.openxmlformats.org/drawingml/2006/main">
              <a:ext uri="{FF2B5EF4-FFF2-40B4-BE49-F238E27FC236}">
                <a16:creationId xmlns:a16="http://schemas.microsoft.com/office/drawing/2014/main" id="{73DAD7DE-81C7-437B-BEA9-CCB70AE825A6}"/>
              </a:ext>
            </a:extLst>
          </p:cNvPr>
          <p:cNvSpPr>
            <a:spLocks xmlns:a="http://schemas.openxmlformats.org/drawingml/2006/main" noGrp="1"/>
          </p:cNvSpPr>
          <p:nvPr/>
        </p:nvSpPr>
        <p:spPr>
          <a:xfrm xmlns:a="http://schemas.openxmlformats.org/drawingml/2006/main">
            <a:off x="1428750" y="5467350"/>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073647"/>
                </a:solidFill>
              </a:defRPr>
            </a:pPr>
            <a:r>
              <a:rPr sz="2100" b="1">
                <a:solidFill>
                  <a:srgbClr val="073647"/>
                </a:solidFill>
              </a:rPr>
              <a:t>The model drafts. The source constrains. The qualified human decides.</a:t>
            </a:r>
          </a:p>
        </p:txBody>
      </p:sp>
      <p:sp>
        <p:nvSpPr>
          <p:cNvPr id="27" name="">
            <a:extLst xmlns:a="http://schemas.openxmlformats.org/drawingml/2006/main">
              <a:ext uri="{FF2B5EF4-FFF2-40B4-BE49-F238E27FC236}">
                <a16:creationId xmlns:a16="http://schemas.microsoft.com/office/drawing/2014/main" id="{60CB4289-F3AC-412E-BD1E-F3FDABA73BE3}"/>
              </a:ext>
            </a:extLst>
          </p:cNvPr>
          <p:cNvSpPr>
            <a:spLocks xmlns:a="http://schemas.openxmlformats.org/drawingml/2006/main" noGrp="1"/>
          </p:cNvSpPr>
          <p:nvPr/>
        </p:nvSpPr>
        <p:spPr>
          <a:xfrm xmlns:a="http://schemas.openxmlformats.org/drawingml/2006/main">
            <a:off x="3467100" y="6038850"/>
            <a:ext cx="5238750" cy="304800"/>
          </a:xfrm>
          <a:prstGeom xmlns:a="http://schemas.openxmlformats.org/drawingml/2006/main" prst="roundRect">
            <a:avLst>
              <a:gd name="adj" fmla="val 50000"/>
            </a:avLst>
          </a:prstGeom>
          <a:solidFill xmlns:a="http://schemas.openxmlformats.org/drawingml/2006/main">
            <a:srgbClr val="073647"/>
          </a:solidFill>
          <a:ln xmlns:a="http://schemas.openxmlformats.org/drawingml/2006/main" w="9525">
            <a:solidFill>
              <a:srgbClr val="073647"/>
            </a:solidFill>
            <a:prstDash val="solid"/>
          </a:ln>
        </p:spPr>
        <p:txBody>
          <a:bodyPr xmlns:a="http://schemas.openxmlformats.org/drawingml/2006/main"/>
          <a:lstStyle xmlns:a="http://schemas.openxmlformats.org/drawingml/2006/main"/>
          <a:p xmlns:a="http://schemas.openxmlformats.org/drawingml/2006/main">
            <a:pPr>
              <a:defRPr sz="900" b="1">
                <a:solidFill>
                  <a:srgbClr val="FFFFFF"/>
                </a:solidFill>
              </a:defRPr>
            </a:pPr>
            <a:r>
              <a:rPr sz="900" b="1">
                <a:solidFill>
                  <a:srgbClr val="FFFFFF"/>
                </a:solidFill>
              </a:rPr>
              <a:t>TAKE THE WORKBOOK + APP + VERIFIED TOOL MATRIX</a:t>
            </a:r>
          </a:p>
        </p:txBody>
      </p:sp>
    </p:spTree>
    <p:extLst>
      <p:ext uri="{BB962C8B-B14F-4D97-AF65-F5344CB8AC3E}">
        <p14:creationId xmlns:p14="http://schemas.microsoft.com/office/powerpoint/2010/main" val="19846283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2026-07-28T10:00:54.6340000Z</dcterms:created>
  <dcterms:modified xsi:type="dcterms:W3CDTF">2026-07-28T10:00:54.6340000Z</dcterms:modified>
</coreProperties>
</file>